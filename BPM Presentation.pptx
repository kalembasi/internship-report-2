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2" r:id="rId6"/>
    <p:sldMasterId id="2147483684" r:id="rId7"/>
    <p:sldMasterId id="2147483696" r:id="rId8"/>
  </p:sldMasterIdLst>
  <p:notesMasterIdLst>
    <p:notesMasterId r:id="rId25"/>
  </p:notesMasterIdLst>
  <p:sldIdLst>
    <p:sldId id="256" r:id="rId9"/>
    <p:sldId id="2933" r:id="rId10"/>
    <p:sldId id="2940" r:id="rId11"/>
    <p:sldId id="2941" r:id="rId12"/>
    <p:sldId id="2939" r:id="rId13"/>
    <p:sldId id="2928" r:id="rId14"/>
    <p:sldId id="2935" r:id="rId15"/>
    <p:sldId id="2929" r:id="rId16"/>
    <p:sldId id="2930" r:id="rId17"/>
    <p:sldId id="2931" r:id="rId18"/>
    <p:sldId id="2932" r:id="rId19"/>
    <p:sldId id="2937" r:id="rId20"/>
    <p:sldId id="2942" r:id="rId21"/>
    <p:sldId id="2934" r:id="rId22"/>
    <p:sldId id="2936" r:id="rId23"/>
    <p:sldId id="2943" r:id="rId2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sra AYAR" initials="BA" lastIdx="1" clrIdx="0">
    <p:extLst>
      <p:ext uri="{19B8F6BF-5375-455C-9EA6-DF929625EA0E}">
        <p15:presenceInfo xmlns:p15="http://schemas.microsoft.com/office/powerpoint/2012/main" userId="S::buayar@borusan.com::17f6f8b7-96b3-488a-b20f-1e2a2734cf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CCECFF"/>
    <a:srgbClr val="CCFFFF"/>
    <a:srgbClr val="FF66C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50" autoAdjust="0"/>
    <p:restoredTop sz="96357" autoAdjust="0"/>
  </p:normalViewPr>
  <p:slideViewPr>
    <p:cSldViewPr snapToGrid="0">
      <p:cViewPr varScale="1">
        <p:scale>
          <a:sx n="112" d="100"/>
          <a:sy n="112" d="100"/>
        </p:scale>
        <p:origin x="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tr-TR"/>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5FD6AB67-AB4D-4A66-864C-4F2A85D4DD33}" type="datetimeFigureOut">
              <a:rPr lang="tr-TR" smtClean="0"/>
              <a:t>10.08.2022</a:t>
            </a:fld>
            <a:endParaRPr lang="tr-TR"/>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tr-TR"/>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tr-TR"/>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B0B6EE4-03B1-4154-8B60-63F58E6F7815}" type="slidenum">
              <a:rPr lang="tr-TR" smtClean="0"/>
              <a:t>‹#›</a:t>
            </a:fld>
            <a:endParaRPr lang="tr-TR"/>
          </a:p>
        </p:txBody>
      </p:sp>
    </p:spTree>
    <p:extLst>
      <p:ext uri="{BB962C8B-B14F-4D97-AF65-F5344CB8AC3E}">
        <p14:creationId xmlns:p14="http://schemas.microsoft.com/office/powerpoint/2010/main" val="788305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5183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3619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460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2319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4758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2545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9162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0371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115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369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73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7486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1947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917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B6EE4-03B1-4154-8B60-63F58E6F7815}"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tr-T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7534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DC798-032F-4FAA-BFC0-9177FC7EA1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228B33-7DBE-47F5-8000-6B831AFDE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E17D8F-3ECD-4C8E-8D4E-311EA1BBD596}"/>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1DA7E12E-E1DE-41D0-AC73-940BDB8A03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22DBC-C0EE-4102-ACC6-D37BF038AF44}"/>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1394925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B89D0-2EB0-499F-8539-4FD6DE0D8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F0C9B9-5B4C-4101-8716-7535BBE94B0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1F64B-9E42-4FEF-A184-ABEE88721984}"/>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48D5D894-C2E4-4DFB-BB0E-30C7F265A8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896F1-234E-4B0E-B2BA-AC0ABD9D9F04}"/>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2063174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0554C-FB24-4258-8F2A-96A8904AEE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C2767A-81D5-4E5F-9B34-D26D43312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1DA6D4-721A-4375-877A-62799618EF01}"/>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0D489FFB-795A-4A02-AD4F-F7E11A775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597E3-8ABE-4117-9E33-E2F1D31AEABC}"/>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2017117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2DE2-A893-4406-BE0C-F47DCF689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FE9758-E18F-4039-8FF9-942CF49486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4258C7-4CE7-4B2D-AB9B-BB464648F9D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2B84F7-89E7-41C4-8591-1AD64851E3C4}"/>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6" name="Footer Placeholder 5">
            <a:extLst>
              <a:ext uri="{FF2B5EF4-FFF2-40B4-BE49-F238E27FC236}">
                <a16:creationId xmlns:a16="http://schemas.microsoft.com/office/drawing/2014/main" id="{40BF00CC-845E-44BE-87AB-0FF6E203A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B09657-B3DD-4F8E-8105-1B8613DC8AF5}"/>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149203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EACE-2F75-4C89-BCA2-5B6893D7B4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9F044C-16AA-4304-8B15-52987CA69B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7554907-0CC4-4A1A-8B68-A84F623DA52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CD4D83-25DB-4BE9-914B-5ECCE88EE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1741F7-F29C-4DFE-834E-5E88E9F5228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C7C0E9-88EB-4C59-816B-D5DF34D4D8ED}"/>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8" name="Footer Placeholder 7">
            <a:extLst>
              <a:ext uri="{FF2B5EF4-FFF2-40B4-BE49-F238E27FC236}">
                <a16:creationId xmlns:a16="http://schemas.microsoft.com/office/drawing/2014/main" id="{403C548D-EB0A-4F9E-AA33-517B0AF8F2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53BCB3-4429-467C-A49A-DFE02B2DF5E1}"/>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941080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A43EE-0E21-4E8A-81E1-4B8C6BABD1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0682B6-77DC-4F5F-9681-2F8C15A70C24}"/>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4" name="Footer Placeholder 3">
            <a:extLst>
              <a:ext uri="{FF2B5EF4-FFF2-40B4-BE49-F238E27FC236}">
                <a16:creationId xmlns:a16="http://schemas.microsoft.com/office/drawing/2014/main" id="{1ED1879D-3236-4BEB-A8DD-0500882514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EA505C-9874-494C-BCE4-B15FFAACB5BC}"/>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2994441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5904FF-F6AD-4505-9FF7-EF755F7FA0DE}"/>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3" name="Footer Placeholder 2">
            <a:extLst>
              <a:ext uri="{FF2B5EF4-FFF2-40B4-BE49-F238E27FC236}">
                <a16:creationId xmlns:a16="http://schemas.microsoft.com/office/drawing/2014/main" id="{1DD5EDA4-D0E2-42CC-BEF6-64DFC10CC1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4B84A1-B42E-4105-9A80-6033EC56DAEE}"/>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3090607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3AA3A-C27E-434F-8844-8FF58B9F2C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ED48F7-7B6D-4450-AAEB-3BFD5221C6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0FFDC4-35D3-4A5A-95C7-7155B18A5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1E6CCB-AC57-4D5F-96A4-9E031866ECDB}"/>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6" name="Footer Placeholder 5">
            <a:extLst>
              <a:ext uri="{FF2B5EF4-FFF2-40B4-BE49-F238E27FC236}">
                <a16:creationId xmlns:a16="http://schemas.microsoft.com/office/drawing/2014/main" id="{159D382B-7FE9-471A-821B-5A50116B29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161043-0302-44CC-99D8-47262C8DE2FE}"/>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4119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ACA77-5D63-4EDE-959F-3C7295DB79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29555B-69E2-4BCF-951C-28264CEA71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C8A59D-34FE-4CAF-BB14-39D628DA6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5FCC6C-CEEA-4E6C-B8D8-7E3450EFD752}"/>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6" name="Footer Placeholder 5">
            <a:extLst>
              <a:ext uri="{FF2B5EF4-FFF2-40B4-BE49-F238E27FC236}">
                <a16:creationId xmlns:a16="http://schemas.microsoft.com/office/drawing/2014/main" id="{73A8A318-11F9-4A97-A067-95C4A0B647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2D161-E7AD-4527-9292-6E562D0B3361}"/>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4031705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905BB-9083-4958-9CE8-E20849F46D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34D800-3AC4-420A-88D7-DFDBAF80BD2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844C8-EB09-4044-AEFC-B99AAAF21552}"/>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1555A496-BE4C-4042-81DD-FAF8C4F1A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F7E73-BAAE-4863-BE0E-F09CD4A3C801}"/>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187403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28FC8F-1DBC-4102-A8A0-044BC8267D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11DA06-403E-4C68-956F-74E6EF3BD95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18C360-6596-46B3-9728-50609C15F0CB}"/>
              </a:ext>
            </a:extLst>
          </p:cNvPr>
          <p:cNvSpPr>
            <a:spLocks noGrp="1"/>
          </p:cNvSpPr>
          <p:nvPr>
            <p:ph type="dt" sz="half" idx="10"/>
          </p:nvPr>
        </p:nvSpPr>
        <p:spPr/>
        <p:txBody>
          <a:body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5C12F826-2F6E-4A1C-8776-547908F361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262DC-3661-4EF2-A8FF-8BCBDDF1E6B4}"/>
              </a:ext>
            </a:extLst>
          </p:cNvPr>
          <p:cNvSpPr>
            <a:spLocks noGrp="1"/>
          </p:cNvSpPr>
          <p:nvPr>
            <p:ph type="sldNum" sz="quarter" idx="12"/>
          </p:nvPr>
        </p:nvSpPr>
        <p:spPr/>
        <p:txBody>
          <a:bodyPr/>
          <a:lstStyle/>
          <a:p>
            <a:fld id="{F2D2712C-9BC7-417D-B000-A4CB141DAFE7}" type="slidenum">
              <a:rPr lang="en-US" smtClean="0"/>
              <a:t>‹#›</a:t>
            </a:fld>
            <a:endParaRPr lang="en-US"/>
          </a:p>
        </p:txBody>
      </p:sp>
    </p:spTree>
    <p:extLst>
      <p:ext uri="{BB962C8B-B14F-4D97-AF65-F5344CB8AC3E}">
        <p14:creationId xmlns:p14="http://schemas.microsoft.com/office/powerpoint/2010/main" val="406601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4556-5274-43F9-BB37-6F0B1B7A70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B9C9DA-53C3-406E-8F08-4165D6A33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C2C476-96B3-4FAF-83C1-29D091E56220}"/>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51C89D38-F414-4982-A584-4F42A7BB8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9A5BA-251F-45A7-A90E-CE0BD73A415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4004703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565A-4DCB-4684-93D9-BB97636BE9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693CB-6A89-4B9E-8A31-1F5041C1BF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CB451-255B-42EF-985C-7C73747C2FD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639CAF01-B953-47D1-99D6-E5B84C9D8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96E2C-CADB-4E02-AFE8-8B627D9F107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47372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BBE4-6574-4A84-98AA-261EBD15A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A65F9F-DCFA-4ECD-AB41-B4F9656C53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639544F-D06A-4D18-BAA8-92EB427A90CF}"/>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12D656FF-7A10-42CB-9B28-9483FDA52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E929D-E823-4684-9E07-1535AB9F0A9F}"/>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730894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8B4B-C108-4117-BC52-EA5713EDBE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73A84-BE9B-42D9-A46A-C4889302F5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D046E5-8F1C-4EC3-AA0F-2D9ECA8E4C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0B4FC5-2D31-42EE-A2D1-035DC7D9CA6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F4916ADA-D857-464C-BB36-6672B2285F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C43C58-4302-46E9-A528-E0A3EF0E5E6D}"/>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887824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D11B-8251-4C26-8651-014618BD4D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3C44C6-E557-43CC-BC1B-5432C074D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67AFFB4-783A-467C-8A26-7328DE5C02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5D900-3DC1-4F28-9D95-FE61840101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CFA901-8E71-4581-82C6-FE8877A855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67B917-3FF2-4053-BDCE-718FC6AAE936}"/>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8" name="Footer Placeholder 7">
            <a:extLst>
              <a:ext uri="{FF2B5EF4-FFF2-40B4-BE49-F238E27FC236}">
                <a16:creationId xmlns:a16="http://schemas.microsoft.com/office/drawing/2014/main" id="{EF6C01C4-5E13-4F27-9D95-69265812B5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A010E-D369-4F2C-AE5B-6F693A61C84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446572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E9B3-4B81-4AA5-A26C-8F00CFAB2F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3D6B2-FE43-4D77-8469-F0D30107A325}"/>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4" name="Footer Placeholder 3">
            <a:extLst>
              <a:ext uri="{FF2B5EF4-FFF2-40B4-BE49-F238E27FC236}">
                <a16:creationId xmlns:a16="http://schemas.microsoft.com/office/drawing/2014/main" id="{EDED2D62-5890-4BD0-8C78-29E207E4F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FC655E-40FA-4CDF-9798-6082B2B084C4}"/>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41765287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5D883-ED63-48B4-A69C-0940A6A12CB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3" name="Footer Placeholder 2">
            <a:extLst>
              <a:ext uri="{FF2B5EF4-FFF2-40B4-BE49-F238E27FC236}">
                <a16:creationId xmlns:a16="http://schemas.microsoft.com/office/drawing/2014/main" id="{70EA950C-B37D-4140-8617-9295D6B87F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12D90F-69CC-4B99-AB99-95C19853E4E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328891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7B62-5C66-4EE3-B789-06E289BB4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956A3-73E4-4D87-98E3-DB5251A5F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4E71C6-E12A-47C7-8459-1E47A5BC1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A413B6-D0B9-4E03-85F0-5B5B9E9215F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CB3E5A1A-E03E-4E04-A234-93F2340C4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2F5FB-C1C3-431E-8C1E-24E9A24DB272}"/>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709760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8DD41-9714-4A16-BDF1-57E46CC9D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F616D-3349-4300-AA43-658DDE88ED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FE5877-9866-46A8-A958-6A891C3DD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320DF5-7792-4CF9-9919-AA028DF3A63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1D8CD1F7-41F2-40DC-9A9B-DC79D94F5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4ADF8-902C-4AF9-A3B0-02EF0490F56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9648051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E3CA-11D3-4AD6-94D0-FA110BA423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D868CB-14B5-408E-BA75-18186328F8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592BC6-5D61-4FB3-831A-2E17C7FB887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FBF8BF27-A3C6-4DC3-BC3B-F113B4809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52567-0BFE-4746-ABD2-779E7BFAF981}"/>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062362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AF10DB-61CC-48CA-92C4-2B079AC1AB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D7F351-2560-496C-AB43-2CAD354905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368C7-2B7B-43A5-9E51-42570A2B3A9D}"/>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A8A5BD7B-3509-47DF-85FB-48913FBC5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DA775-FFEF-4F20-A060-548FB891942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4835293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1AF6-2A4E-45C7-9589-0A1A9D91DA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EB6B5E-669B-4A5D-A928-C45BA09431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261703-B0E0-4A8F-9361-0AAAA7E591EC}"/>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5DD77349-EE21-4E0E-895B-44DE97D9C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4A4F4-2156-4C3B-9186-6FD026D8E859}"/>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402371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4B034-7E41-42C5-81C1-49F3F77030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8BC45-C64C-430B-94D2-306B2F7E16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19155-2479-4680-BD98-8EB07002EA53}"/>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318CF9A8-48FA-4391-91ED-7C7180082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2A038-F721-4886-AD1A-3248A8EB47F1}"/>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7785451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929E-F5F5-4ACD-A415-9323912356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39A4D4-2AE7-4619-A30B-C376028649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2B159D9-D5B2-44B2-94BA-4365ED98622A}"/>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201A831A-EA10-4C9C-9AF0-C3AF0FE2F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44C1A-D03C-4E3C-8449-612900FFCE9E}"/>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37157237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DACE-E635-4DFF-8AE0-FF36519F74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F44976-5077-493F-963E-892D915CC9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89A5C0-4DEB-4E20-9B92-3A9BA78C737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8ACD17-555D-4C0C-9592-0E91062BA4FF}"/>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6" name="Footer Placeholder 5">
            <a:extLst>
              <a:ext uri="{FF2B5EF4-FFF2-40B4-BE49-F238E27FC236}">
                <a16:creationId xmlns:a16="http://schemas.microsoft.com/office/drawing/2014/main" id="{2C725F55-697B-4C41-9841-22A203C173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C6BB37-8E11-4055-A037-880C734F633B}"/>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10590328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42C2-592D-4C7E-A516-F43735F2C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7B1B9C-314A-4C17-9576-6ED0FA4A03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4F92335-9A6E-421B-9D17-C1F7B1BFECD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67B42F-8939-4192-B0B9-84F114A30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27B7276-51BF-4ED7-A600-BBF3FA01661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6C86-D583-43E2-8BEF-E6AB3585C059}"/>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8" name="Footer Placeholder 7">
            <a:extLst>
              <a:ext uri="{FF2B5EF4-FFF2-40B4-BE49-F238E27FC236}">
                <a16:creationId xmlns:a16="http://schemas.microsoft.com/office/drawing/2014/main" id="{2471D28E-0A71-4553-8BED-874984E7E8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F161C0-4D61-4965-9BD2-F1A798E292C4}"/>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8632389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6075-87A1-43C7-9EE4-D924FC713B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AE246E-D56C-43D2-AF60-A98B2C98D1A5}"/>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4" name="Footer Placeholder 3">
            <a:extLst>
              <a:ext uri="{FF2B5EF4-FFF2-40B4-BE49-F238E27FC236}">
                <a16:creationId xmlns:a16="http://schemas.microsoft.com/office/drawing/2014/main" id="{031E818E-675D-46EA-A1E3-6FBE783591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84D577-53E9-4796-98CB-4330854667AA}"/>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9430329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1ED5A8-1CFB-49BF-AC77-E67CECE09007}"/>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3" name="Footer Placeholder 2">
            <a:extLst>
              <a:ext uri="{FF2B5EF4-FFF2-40B4-BE49-F238E27FC236}">
                <a16:creationId xmlns:a16="http://schemas.microsoft.com/office/drawing/2014/main" id="{D5EEA612-AC70-48DF-B1A9-D8F55CBC76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891FDA-435D-4C20-94F1-8475DEE50AFA}"/>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18893620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A71AB-76E6-44A2-969F-96B769EB7B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ECD559-7650-47A9-801F-F5EB59F7DF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817118-72DE-424E-8AF6-1305A9208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AF953F-70C6-416E-AB92-C3B48D278C44}"/>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6" name="Footer Placeholder 5">
            <a:extLst>
              <a:ext uri="{FF2B5EF4-FFF2-40B4-BE49-F238E27FC236}">
                <a16:creationId xmlns:a16="http://schemas.microsoft.com/office/drawing/2014/main" id="{E1AE9A1C-63BF-4B2E-A7AD-D92D926AFF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8248E8-6857-413F-81D1-718FD8F78924}"/>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2403869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6F037-94F4-4C05-801D-367C5FD2F9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5EA368-4F96-4F73-839A-3D49EBB611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22C4E-47D6-4375-9BCD-ECDD588B0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21C12EB-B60D-496E-AA12-4106F5EDE789}"/>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6" name="Footer Placeholder 5">
            <a:extLst>
              <a:ext uri="{FF2B5EF4-FFF2-40B4-BE49-F238E27FC236}">
                <a16:creationId xmlns:a16="http://schemas.microsoft.com/office/drawing/2014/main" id="{3171DCC2-CCAB-4947-9CE1-2A1FEBEDA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AC9D0-9A28-42B9-B0DD-EFD068985C23}"/>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3049547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446A3-8D2A-414B-9153-4CFC6F65FE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4629E9-42DA-485F-B8E9-44ABB18BAE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AE6B3-7E5C-4688-A3B0-F74ACBD83637}"/>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D3B55878-D884-47F8-AB69-8F3EAB1AB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B37793-E5B8-4963-A983-52A7F3998190}"/>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41933629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522F5B-B8C2-4BC6-B161-61A703DBBA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79BBA6-9399-4904-ABAB-72C74C82E0E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EB53D-861B-49D1-A1E1-A06D630C7447}"/>
              </a:ext>
            </a:extLst>
          </p:cNvPr>
          <p:cNvSpPr>
            <a:spLocks noGrp="1"/>
          </p:cNvSpPr>
          <p:nvPr>
            <p:ph type="dt" sz="half" idx="10"/>
          </p:nvPr>
        </p:nvSpPr>
        <p:spPr/>
        <p:txBody>
          <a:body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DD8E883C-CD5B-4C3E-AF14-9DD3EB99B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3E3418-9A0E-42C9-A730-332D1DB32FB6}"/>
              </a:ext>
            </a:extLst>
          </p:cNvPr>
          <p:cNvSpPr>
            <a:spLocks noGrp="1"/>
          </p:cNvSpPr>
          <p:nvPr>
            <p:ph type="sldNum" sz="quarter" idx="12"/>
          </p:nvPr>
        </p:nvSpPr>
        <p:spPr/>
        <p:txBody>
          <a:bodyPr/>
          <a:lstStyle/>
          <a:p>
            <a:fld id="{F421F8F5-583B-427F-BBC9-854F39E298E3}" type="slidenum">
              <a:rPr lang="en-US" smtClean="0"/>
              <a:t>‹#›</a:t>
            </a:fld>
            <a:endParaRPr lang="en-US"/>
          </a:p>
        </p:txBody>
      </p:sp>
    </p:spTree>
    <p:extLst>
      <p:ext uri="{BB962C8B-B14F-4D97-AF65-F5344CB8AC3E}">
        <p14:creationId xmlns:p14="http://schemas.microsoft.com/office/powerpoint/2010/main" val="19030973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4556-5274-43F9-BB37-6F0B1B7A70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B9C9DA-53C3-406E-8F08-4165D6A33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C2C476-96B3-4FAF-83C1-29D091E56220}"/>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51C89D38-F414-4982-A584-4F42A7BB8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9A5BA-251F-45A7-A90E-CE0BD73A415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40409419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565A-4DCB-4684-93D9-BB97636BE9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693CB-6A89-4B9E-8A31-1F5041C1BF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CB451-255B-42EF-985C-7C73747C2FD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639CAF01-B953-47D1-99D6-E5B84C9D8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96E2C-CADB-4E02-AFE8-8B627D9F107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8094929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BBE4-6574-4A84-98AA-261EBD15A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A65F9F-DCFA-4ECD-AB41-B4F9656C53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639544F-D06A-4D18-BAA8-92EB427A90CF}"/>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12D656FF-7A10-42CB-9B28-9483FDA52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E929D-E823-4684-9E07-1535AB9F0A9F}"/>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0502349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8B4B-C108-4117-BC52-EA5713EDBE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73A84-BE9B-42D9-A46A-C4889302F5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D046E5-8F1C-4EC3-AA0F-2D9ECA8E4C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0B4FC5-2D31-42EE-A2D1-035DC7D9CA6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F4916ADA-D857-464C-BB36-6672B2285F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C43C58-4302-46E9-A528-E0A3EF0E5E6D}"/>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774944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D11B-8251-4C26-8651-014618BD4D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3C44C6-E557-43CC-BC1B-5432C074D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67AFFB4-783A-467C-8A26-7328DE5C02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5D900-3DC1-4F28-9D95-FE61840101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CFA901-8E71-4581-82C6-FE8877A855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67B917-3FF2-4053-BDCE-718FC6AAE936}"/>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8" name="Footer Placeholder 7">
            <a:extLst>
              <a:ext uri="{FF2B5EF4-FFF2-40B4-BE49-F238E27FC236}">
                <a16:creationId xmlns:a16="http://schemas.microsoft.com/office/drawing/2014/main" id="{EF6C01C4-5E13-4F27-9D95-69265812B5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A010E-D369-4F2C-AE5B-6F693A61C84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491106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E9B3-4B81-4AA5-A26C-8F00CFAB2F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3D6B2-FE43-4D77-8469-F0D30107A325}"/>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4" name="Footer Placeholder 3">
            <a:extLst>
              <a:ext uri="{FF2B5EF4-FFF2-40B4-BE49-F238E27FC236}">
                <a16:creationId xmlns:a16="http://schemas.microsoft.com/office/drawing/2014/main" id="{EDED2D62-5890-4BD0-8C78-29E207E4F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FC655E-40FA-4CDF-9798-6082B2B084C4}"/>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4131649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5D883-ED63-48B4-A69C-0940A6A12CB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3" name="Footer Placeholder 2">
            <a:extLst>
              <a:ext uri="{FF2B5EF4-FFF2-40B4-BE49-F238E27FC236}">
                <a16:creationId xmlns:a16="http://schemas.microsoft.com/office/drawing/2014/main" id="{70EA950C-B37D-4140-8617-9295D6B87F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12D90F-69CC-4B99-AB99-95C19853E4E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0552709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7B62-5C66-4EE3-B789-06E289BB4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956A3-73E4-4D87-98E3-DB5251A5F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4E71C6-E12A-47C7-8459-1E47A5BC1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A413B6-D0B9-4E03-85F0-5B5B9E9215F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CB3E5A1A-E03E-4E04-A234-93F2340C4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2F5FB-C1C3-431E-8C1E-24E9A24DB272}"/>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676699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8DD41-9714-4A16-BDF1-57E46CC9D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F616D-3349-4300-AA43-658DDE88ED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FE5877-9866-46A8-A958-6A891C3DD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320DF5-7792-4CF9-9919-AA028DF3A63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1D8CD1F7-41F2-40DC-9A9B-DC79D94F5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4ADF8-902C-4AF9-A3B0-02EF0490F56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8888884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E3CA-11D3-4AD6-94D0-FA110BA423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D868CB-14B5-408E-BA75-18186328F8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592BC6-5D61-4FB3-831A-2E17C7FB887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FBF8BF27-A3C6-4DC3-BC3B-F113B4809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52567-0BFE-4746-ABD2-779E7BFAF981}"/>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7061742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AF10DB-61CC-48CA-92C4-2B079AC1AB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D7F351-2560-496C-AB43-2CAD354905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368C7-2B7B-43A5-9E51-42570A2B3A9D}"/>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A8A5BD7B-3509-47DF-85FB-48913FBC5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DA775-FFEF-4F20-A060-548FB891942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2795333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4556-5274-43F9-BB37-6F0B1B7A70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B9C9DA-53C3-406E-8F08-4165D6A33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C2C476-96B3-4FAF-83C1-29D091E56220}"/>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51C89D38-F414-4982-A584-4F42A7BB8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9A5BA-251F-45A7-A90E-CE0BD73A415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722243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565A-4DCB-4684-93D9-BB97636BE9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693CB-6A89-4B9E-8A31-1F5041C1BF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CB451-255B-42EF-985C-7C73747C2FD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639CAF01-B953-47D1-99D6-E5B84C9D8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96E2C-CADB-4E02-AFE8-8B627D9F107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6589633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BBE4-6574-4A84-98AA-261EBD15A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A65F9F-DCFA-4ECD-AB41-B4F9656C53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639544F-D06A-4D18-BAA8-92EB427A90CF}"/>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12D656FF-7A10-42CB-9B28-9483FDA52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E929D-E823-4684-9E07-1535AB9F0A9F}"/>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791725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8B4B-C108-4117-BC52-EA5713EDBE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73A84-BE9B-42D9-A46A-C4889302F5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D046E5-8F1C-4EC3-AA0F-2D9ECA8E4C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0B4FC5-2D31-42EE-A2D1-035DC7D9CA6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F4916ADA-D857-464C-BB36-6672B2285F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C43C58-4302-46E9-A528-E0A3EF0E5E6D}"/>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847171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D11B-8251-4C26-8651-014618BD4D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3C44C6-E557-43CC-BC1B-5432C074D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67AFFB4-783A-467C-8A26-7328DE5C02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5D900-3DC1-4F28-9D95-FE61840101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CFA901-8E71-4581-82C6-FE8877A855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67B917-3FF2-4053-BDCE-718FC6AAE936}"/>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8" name="Footer Placeholder 7">
            <a:extLst>
              <a:ext uri="{FF2B5EF4-FFF2-40B4-BE49-F238E27FC236}">
                <a16:creationId xmlns:a16="http://schemas.microsoft.com/office/drawing/2014/main" id="{EF6C01C4-5E13-4F27-9D95-69265812B5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A010E-D369-4F2C-AE5B-6F693A61C849}"/>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1259332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E9B3-4B81-4AA5-A26C-8F00CFAB2F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3D6B2-FE43-4D77-8469-F0D30107A325}"/>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4" name="Footer Placeholder 3">
            <a:extLst>
              <a:ext uri="{FF2B5EF4-FFF2-40B4-BE49-F238E27FC236}">
                <a16:creationId xmlns:a16="http://schemas.microsoft.com/office/drawing/2014/main" id="{EDED2D62-5890-4BD0-8C78-29E207E4F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FC655E-40FA-4CDF-9798-6082B2B084C4}"/>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6117659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5D883-ED63-48B4-A69C-0940A6A12CB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3" name="Footer Placeholder 2">
            <a:extLst>
              <a:ext uri="{FF2B5EF4-FFF2-40B4-BE49-F238E27FC236}">
                <a16:creationId xmlns:a16="http://schemas.microsoft.com/office/drawing/2014/main" id="{70EA950C-B37D-4140-8617-9295D6B87F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12D90F-69CC-4B99-AB99-95C19853E4E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8188981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7B62-5C66-4EE3-B789-06E289BB4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956A3-73E4-4D87-98E3-DB5251A5F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4E71C6-E12A-47C7-8459-1E47A5BC1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A413B6-D0B9-4E03-85F0-5B5B9E9215F2}"/>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CB3E5A1A-E03E-4E04-A234-93F2340C4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2F5FB-C1C3-431E-8C1E-24E9A24DB272}"/>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34311325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8DD41-9714-4A16-BDF1-57E46CC9D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F616D-3349-4300-AA43-658DDE88ED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FE5877-9866-46A8-A958-6A891C3DD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320DF5-7792-4CF9-9919-AA028DF3A633}"/>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6" name="Footer Placeholder 5">
            <a:extLst>
              <a:ext uri="{FF2B5EF4-FFF2-40B4-BE49-F238E27FC236}">
                <a16:creationId xmlns:a16="http://schemas.microsoft.com/office/drawing/2014/main" id="{1D8CD1F7-41F2-40DC-9A9B-DC79D94F5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4ADF8-902C-4AF9-A3B0-02EF0490F567}"/>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10539842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E3CA-11D3-4AD6-94D0-FA110BA423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D868CB-14B5-408E-BA75-18186328F8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592BC6-5D61-4FB3-831A-2E17C7FB887B}"/>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FBF8BF27-A3C6-4DC3-BC3B-F113B4809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52567-0BFE-4746-ABD2-779E7BFAF981}"/>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22831123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AF10DB-61CC-48CA-92C4-2B079AC1AB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D7F351-2560-496C-AB43-2CAD354905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368C7-2B7B-43A5-9E51-42570A2B3A9D}"/>
              </a:ext>
            </a:extLst>
          </p:cNvPr>
          <p:cNvSpPr>
            <a:spLocks noGrp="1"/>
          </p:cNvSpPr>
          <p:nvPr>
            <p:ph type="dt" sz="half" idx="10"/>
          </p:nvPr>
        </p:nvSpPr>
        <p:spPr/>
        <p:txBody>
          <a:body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A8A5BD7B-3509-47DF-85FB-48913FBC5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DA775-FFEF-4F20-A060-548FB891942E}"/>
              </a:ext>
            </a:extLst>
          </p:cNvPr>
          <p:cNvSpPr>
            <a:spLocks noGrp="1"/>
          </p:cNvSpPr>
          <p:nvPr>
            <p:ph type="sldNum" sz="quarter" idx="12"/>
          </p:nvPr>
        </p:nvSpPr>
        <p:spPr/>
        <p:txBody>
          <a:bodyPr/>
          <a:lstStyle/>
          <a:p>
            <a:fld id="{7A42D730-2709-45CA-B75A-5C479F8DA4F9}" type="slidenum">
              <a:rPr lang="en-US" smtClean="0"/>
              <a:t>‹#›</a:t>
            </a:fld>
            <a:endParaRPr lang="en-US"/>
          </a:p>
        </p:txBody>
      </p:sp>
    </p:spTree>
    <p:extLst>
      <p:ext uri="{BB962C8B-B14F-4D97-AF65-F5344CB8AC3E}">
        <p14:creationId xmlns:p14="http://schemas.microsoft.com/office/powerpoint/2010/main" val="902831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5.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24000" b="-2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FBACF-650F-4A35-A8FC-7BD26EBDB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3068B3-DFB4-4D4E-91EE-71D12F4DA5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A4EE7-1543-4E37-A258-41558F8BE4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C163A-4405-4E81-B154-29B694462F3C}" type="datetimeFigureOut">
              <a:rPr lang="en-US" smtClean="0"/>
              <a:t>8/10/2022</a:t>
            </a:fld>
            <a:endParaRPr lang="en-US"/>
          </a:p>
        </p:txBody>
      </p:sp>
      <p:sp>
        <p:nvSpPr>
          <p:cNvPr id="5" name="Footer Placeholder 4">
            <a:extLst>
              <a:ext uri="{FF2B5EF4-FFF2-40B4-BE49-F238E27FC236}">
                <a16:creationId xmlns:a16="http://schemas.microsoft.com/office/drawing/2014/main" id="{D1FC65E5-3905-4F76-B288-2E1ABF002B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96413C-88E7-40BE-8095-170DE96D2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D2712C-9BC7-417D-B000-A4CB141DAFE7}" type="slidenum">
              <a:rPr lang="en-US" smtClean="0"/>
              <a:t>‹#›</a:t>
            </a:fld>
            <a:endParaRPr lang="en-US"/>
          </a:p>
        </p:txBody>
      </p:sp>
      <p:pic>
        <p:nvPicPr>
          <p:cNvPr id="8" name="Picture 7">
            <a:extLst>
              <a:ext uri="{FF2B5EF4-FFF2-40B4-BE49-F238E27FC236}">
                <a16:creationId xmlns:a16="http://schemas.microsoft.com/office/drawing/2014/main" id="{5851F00C-21A2-41DC-A0F6-975F07E23D2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fr" descr="Sınıflandırma: Borusan Grubu Özel&#10;Classification: Borusan Group Confidential">
            <a:extLst>
              <a:ext uri="{FF2B5EF4-FFF2-40B4-BE49-F238E27FC236}">
                <a16:creationId xmlns:a16="http://schemas.microsoft.com/office/drawing/2014/main" id="{8D4500FC-F7FA-454F-8453-A792E3403F67}"/>
              </a:ext>
            </a:extLst>
          </p:cNvPr>
          <p:cNvSpPr txBox="1"/>
          <p:nvPr userDrawn="1"/>
        </p:nvSpPr>
        <p:spPr>
          <a:xfrm>
            <a:off x="0" y="6520180"/>
            <a:ext cx="12192000" cy="369332"/>
          </a:xfrm>
          <a:prstGeom prst="rect">
            <a:avLst/>
          </a:prstGeom>
          <a:noFill/>
        </p:spPr>
        <p:txBody>
          <a:bodyPr vert="horz" rtlCol="0">
            <a:spAutoFit/>
          </a:bodyPr>
          <a:lstStyle/>
          <a:p>
            <a:pPr algn="r"/>
            <a:r>
              <a:rPr lang="tr-TR" sz="900" b="0" i="0" u="none" baseline="0">
                <a:solidFill>
                  <a:srgbClr val="000000"/>
                </a:solidFill>
                <a:latin typeface="calibri" panose="020F0502020204030204" pitchFamily="34" charset="0"/>
              </a:rPr>
              <a:t>Sınıflandırma: </a:t>
            </a:r>
            <a:r>
              <a:rPr lang="tr-TR" sz="900" b="0" i="0" u="none" baseline="0">
                <a:solidFill>
                  <a:srgbClr val="FF6600"/>
                </a:solidFill>
                <a:latin typeface="Microsoft Sans Serif" panose="020B0604020202020204" pitchFamily="34" charset="0"/>
              </a:rPr>
              <a:t>Borusan Grubu Özel</a:t>
            </a:r>
            <a:endParaRPr lang="tr-TR" sz="900" b="0" i="0" u="none" baseline="0">
              <a:solidFill>
                <a:srgbClr val="000000"/>
              </a:solidFill>
              <a:latin typeface="calibri" panose="020F0502020204030204" pitchFamily="34" charset="0"/>
            </a:endParaRPr>
          </a:p>
          <a:p>
            <a:pPr algn="r"/>
            <a:r>
              <a:rPr lang="tr-TR" sz="900" b="0" i="0" u="none" baseline="0">
                <a:solidFill>
                  <a:srgbClr val="000000"/>
                </a:solidFill>
                <a:latin typeface="calibri" panose="020F0502020204030204" pitchFamily="34" charset="0"/>
              </a:rPr>
              <a:t>Classification:</a:t>
            </a:r>
            <a:r>
              <a:rPr lang="tr-TR" sz="900" b="0" i="0" u="none" baseline="0">
                <a:solidFill>
                  <a:srgbClr val="339966"/>
                </a:solidFill>
                <a:latin typeface="calibri" panose="020F0502020204030204" pitchFamily="34" charset="0"/>
              </a:rPr>
              <a:t> </a:t>
            </a:r>
            <a:r>
              <a:rPr lang="tr-TR" sz="900" b="0" i="0" u="none" baseline="0">
                <a:solidFill>
                  <a:srgbClr val="FF6600"/>
                </a:solidFill>
                <a:latin typeface="Microsoft Sans Serif" panose="020B0604020202020204" pitchFamily="34" charset="0"/>
              </a:rPr>
              <a:t>Borusan Group Confidential</a:t>
            </a:r>
          </a:p>
        </p:txBody>
      </p:sp>
    </p:spTree>
    <p:extLst>
      <p:ext uri="{BB962C8B-B14F-4D97-AF65-F5344CB8AC3E}">
        <p14:creationId xmlns:p14="http://schemas.microsoft.com/office/powerpoint/2010/main" val="2889792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24000" b="-2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45265E-4F9F-438F-9E8E-A4B6F0F73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814DAE-8B47-415A-9EE1-B51F69E01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8C9EF-E6F3-4B42-8876-BD641F1BF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03D0AC3D-6144-4561-808D-CC1CA8310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0ED3AF-982C-44FD-BC71-F0409ED253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D730-2709-45CA-B75A-5C479F8DA4F9}" type="slidenum">
              <a:rPr lang="en-US" smtClean="0"/>
              <a:t>‹#›</a:t>
            </a:fld>
            <a:endParaRPr lang="en-US"/>
          </a:p>
        </p:txBody>
      </p:sp>
      <p:pic>
        <p:nvPicPr>
          <p:cNvPr id="8" name="Picture 7">
            <a:extLst>
              <a:ext uri="{FF2B5EF4-FFF2-40B4-BE49-F238E27FC236}">
                <a16:creationId xmlns:a16="http://schemas.microsoft.com/office/drawing/2014/main" id="{C2FEFBCC-B23F-47C4-BC88-54D93A1FCF5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AD00D4BB-28C2-4E2D-AE7C-C2D38979E01D}"/>
              </a:ext>
            </a:extLst>
          </p:cNvPr>
          <p:cNvPicPr>
            <a:picLocks noChangeAspect="1"/>
          </p:cNvPicPr>
          <p:nvPr userDrawn="1"/>
        </p:nvPicPr>
        <p:blipFill>
          <a:blip r:embed="rId15"/>
          <a:stretch>
            <a:fillRect/>
          </a:stretch>
        </p:blipFill>
        <p:spPr>
          <a:xfrm>
            <a:off x="8308747" y="468929"/>
            <a:ext cx="1472665" cy="461665"/>
          </a:xfrm>
          <a:prstGeom prst="rect">
            <a:avLst/>
          </a:prstGeom>
        </p:spPr>
      </p:pic>
      <p:sp>
        <p:nvSpPr>
          <p:cNvPr id="7" name="fr" descr="Sınıflandırma: Borusan Grubu Özel&#10;Classification: Borusan Group Confidential">
            <a:extLst>
              <a:ext uri="{FF2B5EF4-FFF2-40B4-BE49-F238E27FC236}">
                <a16:creationId xmlns:a16="http://schemas.microsoft.com/office/drawing/2014/main" id="{B124A78D-E64B-46C9-BA45-9C9CC50F47DE}"/>
              </a:ext>
            </a:extLst>
          </p:cNvPr>
          <p:cNvSpPr txBox="1"/>
          <p:nvPr userDrawn="1"/>
        </p:nvSpPr>
        <p:spPr>
          <a:xfrm>
            <a:off x="0" y="6520180"/>
            <a:ext cx="12192000" cy="369332"/>
          </a:xfrm>
          <a:prstGeom prst="rect">
            <a:avLst/>
          </a:prstGeom>
          <a:noFill/>
        </p:spPr>
        <p:txBody>
          <a:bodyPr vert="horz" rtlCol="0">
            <a:spAutoFit/>
          </a:bodyPr>
          <a:lstStyle/>
          <a:p>
            <a:pPr algn="r"/>
            <a:r>
              <a:rPr lang="tr-TR" sz="900" b="0" i="0" u="none" baseline="0">
                <a:solidFill>
                  <a:srgbClr val="000000"/>
                </a:solidFill>
                <a:latin typeface="calibri" panose="020F0502020204030204" pitchFamily="34" charset="0"/>
              </a:rPr>
              <a:t>Sınıflandırma: </a:t>
            </a:r>
            <a:r>
              <a:rPr lang="tr-TR" sz="900" b="0" i="0" u="none" baseline="0">
                <a:solidFill>
                  <a:srgbClr val="FF6600"/>
                </a:solidFill>
                <a:latin typeface="Microsoft Sans Serif" panose="020B0604020202020204" pitchFamily="34" charset="0"/>
              </a:rPr>
              <a:t>Borusan Grubu Özel</a:t>
            </a:r>
            <a:endParaRPr lang="tr-TR" sz="900" b="0" i="0" u="none" baseline="0">
              <a:solidFill>
                <a:srgbClr val="000000"/>
              </a:solidFill>
              <a:latin typeface="calibri" panose="020F0502020204030204" pitchFamily="34" charset="0"/>
            </a:endParaRPr>
          </a:p>
          <a:p>
            <a:pPr algn="r"/>
            <a:r>
              <a:rPr lang="tr-TR" sz="900" b="0" i="0" u="none" baseline="0">
                <a:solidFill>
                  <a:srgbClr val="000000"/>
                </a:solidFill>
                <a:latin typeface="calibri" panose="020F0502020204030204" pitchFamily="34" charset="0"/>
              </a:rPr>
              <a:t>Classification:</a:t>
            </a:r>
            <a:r>
              <a:rPr lang="tr-TR" sz="900" b="0" i="0" u="none" baseline="0">
                <a:solidFill>
                  <a:srgbClr val="339966"/>
                </a:solidFill>
                <a:latin typeface="calibri" panose="020F0502020204030204" pitchFamily="34" charset="0"/>
              </a:rPr>
              <a:t> </a:t>
            </a:r>
            <a:r>
              <a:rPr lang="tr-TR" sz="900" b="0" i="0" u="none" baseline="0">
                <a:solidFill>
                  <a:srgbClr val="FF6600"/>
                </a:solidFill>
                <a:latin typeface="Microsoft Sans Serif" panose="020B0604020202020204" pitchFamily="34" charset="0"/>
              </a:rPr>
              <a:t>Borusan Group Confidential</a:t>
            </a:r>
          </a:p>
        </p:txBody>
      </p:sp>
    </p:spTree>
    <p:extLst>
      <p:ext uri="{BB962C8B-B14F-4D97-AF65-F5344CB8AC3E}">
        <p14:creationId xmlns:p14="http://schemas.microsoft.com/office/powerpoint/2010/main" val="1697107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24000" b="-2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A27F31-81AC-4B03-AB91-23A9C73C9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538E3E-4BD5-49B6-8624-B83625E8B9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4EBE5D-3305-4567-84E9-4DE36588E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8FD4C-BD0B-427C-9F17-2925A7FDE435}" type="datetimeFigureOut">
              <a:rPr lang="en-US" smtClean="0"/>
              <a:t>8/10/2022</a:t>
            </a:fld>
            <a:endParaRPr lang="en-US"/>
          </a:p>
        </p:txBody>
      </p:sp>
      <p:sp>
        <p:nvSpPr>
          <p:cNvPr id="5" name="Footer Placeholder 4">
            <a:extLst>
              <a:ext uri="{FF2B5EF4-FFF2-40B4-BE49-F238E27FC236}">
                <a16:creationId xmlns:a16="http://schemas.microsoft.com/office/drawing/2014/main" id="{287A4213-4511-46AD-ADA7-301F8B232D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20F3DC-06B2-40DA-8852-FECF41DE0C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21F8F5-583B-427F-BBC9-854F39E298E3}" type="slidenum">
              <a:rPr lang="en-US" smtClean="0"/>
              <a:t>‹#›</a:t>
            </a:fld>
            <a:endParaRPr lang="en-US"/>
          </a:p>
        </p:txBody>
      </p:sp>
      <p:pic>
        <p:nvPicPr>
          <p:cNvPr id="8" name="Picture 7">
            <a:extLst>
              <a:ext uri="{FF2B5EF4-FFF2-40B4-BE49-F238E27FC236}">
                <a16:creationId xmlns:a16="http://schemas.microsoft.com/office/drawing/2014/main" id="{63C49023-F1E1-448D-A538-2CB71AD04C9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fr" descr="Sınıflandırma: Borusan Grubu Özel&#10;Classification: Borusan Group Confidential">
            <a:extLst>
              <a:ext uri="{FF2B5EF4-FFF2-40B4-BE49-F238E27FC236}">
                <a16:creationId xmlns:a16="http://schemas.microsoft.com/office/drawing/2014/main" id="{07EC7487-407B-4EDD-A677-1383C7B34456}"/>
              </a:ext>
            </a:extLst>
          </p:cNvPr>
          <p:cNvSpPr txBox="1"/>
          <p:nvPr userDrawn="1"/>
        </p:nvSpPr>
        <p:spPr>
          <a:xfrm>
            <a:off x="0" y="6520180"/>
            <a:ext cx="12192000" cy="369332"/>
          </a:xfrm>
          <a:prstGeom prst="rect">
            <a:avLst/>
          </a:prstGeom>
          <a:noFill/>
        </p:spPr>
        <p:txBody>
          <a:bodyPr vert="horz" rtlCol="0">
            <a:spAutoFit/>
          </a:bodyPr>
          <a:lstStyle/>
          <a:p>
            <a:pPr algn="r"/>
            <a:r>
              <a:rPr lang="tr-TR" sz="900" b="0" i="0" u="none" baseline="0">
                <a:solidFill>
                  <a:srgbClr val="000000"/>
                </a:solidFill>
                <a:latin typeface="calibri" panose="020F0502020204030204" pitchFamily="34" charset="0"/>
              </a:rPr>
              <a:t>Sınıflandırma: </a:t>
            </a:r>
            <a:r>
              <a:rPr lang="tr-TR" sz="900" b="0" i="0" u="none" baseline="0">
                <a:solidFill>
                  <a:srgbClr val="FF6600"/>
                </a:solidFill>
                <a:latin typeface="Microsoft Sans Serif" panose="020B0604020202020204" pitchFamily="34" charset="0"/>
              </a:rPr>
              <a:t>Borusan Grubu Özel</a:t>
            </a:r>
            <a:endParaRPr lang="tr-TR" sz="900" b="0" i="0" u="none" baseline="0">
              <a:solidFill>
                <a:srgbClr val="000000"/>
              </a:solidFill>
              <a:latin typeface="calibri" panose="020F0502020204030204" pitchFamily="34" charset="0"/>
            </a:endParaRPr>
          </a:p>
          <a:p>
            <a:pPr algn="r"/>
            <a:r>
              <a:rPr lang="tr-TR" sz="900" b="0" i="0" u="none" baseline="0">
                <a:solidFill>
                  <a:srgbClr val="000000"/>
                </a:solidFill>
                <a:latin typeface="calibri" panose="020F0502020204030204" pitchFamily="34" charset="0"/>
              </a:rPr>
              <a:t>Classification:</a:t>
            </a:r>
            <a:r>
              <a:rPr lang="tr-TR" sz="900" b="0" i="0" u="none" baseline="0">
                <a:solidFill>
                  <a:srgbClr val="339966"/>
                </a:solidFill>
                <a:latin typeface="calibri" panose="020F0502020204030204" pitchFamily="34" charset="0"/>
              </a:rPr>
              <a:t> </a:t>
            </a:r>
            <a:r>
              <a:rPr lang="tr-TR" sz="900" b="0" i="0" u="none" baseline="0">
                <a:solidFill>
                  <a:srgbClr val="FF6600"/>
                </a:solidFill>
                <a:latin typeface="Microsoft Sans Serif" panose="020B0604020202020204" pitchFamily="34" charset="0"/>
              </a:rPr>
              <a:t>Borusan Group Confidential</a:t>
            </a:r>
          </a:p>
        </p:txBody>
      </p:sp>
    </p:spTree>
    <p:extLst>
      <p:ext uri="{BB962C8B-B14F-4D97-AF65-F5344CB8AC3E}">
        <p14:creationId xmlns:p14="http://schemas.microsoft.com/office/powerpoint/2010/main" val="3850797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24000" b="-2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45265E-4F9F-438F-9E8E-A4B6F0F73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814DAE-8B47-415A-9EE1-B51F69E01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8C9EF-E6F3-4B42-8876-BD641F1BF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03D0AC3D-6144-4561-808D-CC1CA8310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0ED3AF-982C-44FD-BC71-F0409ED253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D730-2709-45CA-B75A-5C479F8DA4F9}" type="slidenum">
              <a:rPr lang="en-US" smtClean="0"/>
              <a:t>‹#›</a:t>
            </a:fld>
            <a:endParaRPr lang="en-US"/>
          </a:p>
        </p:txBody>
      </p:sp>
      <p:pic>
        <p:nvPicPr>
          <p:cNvPr id="8" name="Picture 7">
            <a:extLst>
              <a:ext uri="{FF2B5EF4-FFF2-40B4-BE49-F238E27FC236}">
                <a16:creationId xmlns:a16="http://schemas.microsoft.com/office/drawing/2014/main" id="{C2FEFBCC-B23F-47C4-BC88-54D93A1FCF5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fr" descr="Sınıflandırma: Borusan Grubu Özel&#10;Classification: Borusan Group Confidential">
            <a:extLst>
              <a:ext uri="{FF2B5EF4-FFF2-40B4-BE49-F238E27FC236}">
                <a16:creationId xmlns:a16="http://schemas.microsoft.com/office/drawing/2014/main" id="{B124A78D-E64B-46C9-BA45-9C9CC50F47DE}"/>
              </a:ext>
            </a:extLst>
          </p:cNvPr>
          <p:cNvSpPr txBox="1"/>
          <p:nvPr userDrawn="1"/>
        </p:nvSpPr>
        <p:spPr>
          <a:xfrm>
            <a:off x="0" y="6520180"/>
            <a:ext cx="12192000" cy="369332"/>
          </a:xfrm>
          <a:prstGeom prst="rect">
            <a:avLst/>
          </a:prstGeom>
          <a:noFill/>
        </p:spPr>
        <p:txBody>
          <a:bodyPr vert="horz" rtlCol="0">
            <a:spAutoFit/>
          </a:bodyPr>
          <a:lstStyle/>
          <a:p>
            <a:pPr algn="r"/>
            <a:r>
              <a:rPr lang="tr-TR" sz="900" b="0" i="0" u="none" baseline="0">
                <a:solidFill>
                  <a:srgbClr val="000000"/>
                </a:solidFill>
                <a:latin typeface="calibri" panose="020F0502020204030204" pitchFamily="34" charset="0"/>
              </a:rPr>
              <a:t>Sınıflandırma: </a:t>
            </a:r>
            <a:r>
              <a:rPr lang="tr-TR" sz="900" b="0" i="0" u="none" baseline="0">
                <a:solidFill>
                  <a:srgbClr val="FF6600"/>
                </a:solidFill>
                <a:latin typeface="Microsoft Sans Serif" panose="020B0604020202020204" pitchFamily="34" charset="0"/>
              </a:rPr>
              <a:t>Borusan Grubu Özel</a:t>
            </a:r>
            <a:endParaRPr lang="tr-TR" sz="900" b="0" i="0" u="none" baseline="0">
              <a:solidFill>
                <a:srgbClr val="000000"/>
              </a:solidFill>
              <a:latin typeface="calibri" panose="020F0502020204030204" pitchFamily="34" charset="0"/>
            </a:endParaRPr>
          </a:p>
          <a:p>
            <a:pPr algn="r"/>
            <a:r>
              <a:rPr lang="tr-TR" sz="900" b="0" i="0" u="none" baseline="0">
                <a:solidFill>
                  <a:srgbClr val="000000"/>
                </a:solidFill>
                <a:latin typeface="calibri" panose="020F0502020204030204" pitchFamily="34" charset="0"/>
              </a:rPr>
              <a:t>Classification:</a:t>
            </a:r>
            <a:r>
              <a:rPr lang="tr-TR" sz="900" b="0" i="0" u="none" baseline="0">
                <a:solidFill>
                  <a:srgbClr val="339966"/>
                </a:solidFill>
                <a:latin typeface="calibri" panose="020F0502020204030204" pitchFamily="34" charset="0"/>
              </a:rPr>
              <a:t> </a:t>
            </a:r>
            <a:r>
              <a:rPr lang="tr-TR" sz="900" b="0" i="0" u="none" baseline="0">
                <a:solidFill>
                  <a:srgbClr val="FF6600"/>
                </a:solidFill>
                <a:latin typeface="Microsoft Sans Serif" panose="020B0604020202020204" pitchFamily="34" charset="0"/>
              </a:rPr>
              <a:t>Borusan Group Confidential</a:t>
            </a:r>
          </a:p>
        </p:txBody>
      </p:sp>
    </p:spTree>
    <p:extLst>
      <p:ext uri="{BB962C8B-B14F-4D97-AF65-F5344CB8AC3E}">
        <p14:creationId xmlns:p14="http://schemas.microsoft.com/office/powerpoint/2010/main" val="313326272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24000" b="-2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45265E-4F9F-438F-9E8E-A4B6F0F73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814DAE-8B47-415A-9EE1-B51F69E01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8C9EF-E6F3-4B42-8876-BD641F1BF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2C35AD-38A8-4A1C-B5F8-ECE429E79C70}" type="datetimeFigureOut">
              <a:rPr lang="en-US" smtClean="0"/>
              <a:t>8/10/2022</a:t>
            </a:fld>
            <a:endParaRPr lang="en-US"/>
          </a:p>
        </p:txBody>
      </p:sp>
      <p:sp>
        <p:nvSpPr>
          <p:cNvPr id="5" name="Footer Placeholder 4">
            <a:extLst>
              <a:ext uri="{FF2B5EF4-FFF2-40B4-BE49-F238E27FC236}">
                <a16:creationId xmlns:a16="http://schemas.microsoft.com/office/drawing/2014/main" id="{03D0AC3D-6144-4561-808D-CC1CA8310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0ED3AF-982C-44FD-BC71-F0409ED253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D730-2709-45CA-B75A-5C479F8DA4F9}" type="slidenum">
              <a:rPr lang="en-US" smtClean="0"/>
              <a:t>‹#›</a:t>
            </a:fld>
            <a:endParaRPr lang="en-US"/>
          </a:p>
        </p:txBody>
      </p:sp>
      <p:pic>
        <p:nvPicPr>
          <p:cNvPr id="8" name="Picture 7">
            <a:extLst>
              <a:ext uri="{FF2B5EF4-FFF2-40B4-BE49-F238E27FC236}">
                <a16:creationId xmlns:a16="http://schemas.microsoft.com/office/drawing/2014/main" id="{C2FEFBCC-B23F-47C4-BC88-54D93A1FCF5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fr" descr="Sınıflandırma: Borusan Grubu Özel&#10;Classification: Borusan Group Confidential">
            <a:extLst>
              <a:ext uri="{FF2B5EF4-FFF2-40B4-BE49-F238E27FC236}">
                <a16:creationId xmlns:a16="http://schemas.microsoft.com/office/drawing/2014/main" id="{B124A78D-E64B-46C9-BA45-9C9CC50F47DE}"/>
              </a:ext>
            </a:extLst>
          </p:cNvPr>
          <p:cNvSpPr txBox="1"/>
          <p:nvPr userDrawn="1"/>
        </p:nvSpPr>
        <p:spPr>
          <a:xfrm>
            <a:off x="0" y="6520180"/>
            <a:ext cx="12192000" cy="369332"/>
          </a:xfrm>
          <a:prstGeom prst="rect">
            <a:avLst/>
          </a:prstGeom>
          <a:noFill/>
        </p:spPr>
        <p:txBody>
          <a:bodyPr vert="horz" rtlCol="0">
            <a:spAutoFit/>
          </a:bodyPr>
          <a:lstStyle/>
          <a:p>
            <a:pPr algn="r"/>
            <a:r>
              <a:rPr lang="tr-TR" sz="900" b="0" i="0" u="none" baseline="0">
                <a:solidFill>
                  <a:srgbClr val="000000"/>
                </a:solidFill>
                <a:latin typeface="calibri" panose="020F0502020204030204" pitchFamily="34" charset="0"/>
              </a:rPr>
              <a:t>Sınıflandırma: </a:t>
            </a:r>
            <a:r>
              <a:rPr lang="tr-TR" sz="900" b="0" i="0" u="none" baseline="0">
                <a:solidFill>
                  <a:srgbClr val="FF6600"/>
                </a:solidFill>
                <a:latin typeface="Microsoft Sans Serif" panose="020B0604020202020204" pitchFamily="34" charset="0"/>
              </a:rPr>
              <a:t>Borusan Grubu Özel</a:t>
            </a:r>
            <a:endParaRPr lang="tr-TR" sz="900" b="0" i="0" u="none" baseline="0">
              <a:solidFill>
                <a:srgbClr val="000000"/>
              </a:solidFill>
              <a:latin typeface="calibri" panose="020F0502020204030204" pitchFamily="34" charset="0"/>
            </a:endParaRPr>
          </a:p>
          <a:p>
            <a:pPr algn="r"/>
            <a:r>
              <a:rPr lang="tr-TR" sz="900" b="0" i="0" u="none" baseline="0">
                <a:solidFill>
                  <a:srgbClr val="000000"/>
                </a:solidFill>
                <a:latin typeface="calibri" panose="020F0502020204030204" pitchFamily="34" charset="0"/>
              </a:rPr>
              <a:t>Classification:</a:t>
            </a:r>
            <a:r>
              <a:rPr lang="tr-TR" sz="900" b="0" i="0" u="none" baseline="0">
                <a:solidFill>
                  <a:srgbClr val="339966"/>
                </a:solidFill>
                <a:latin typeface="calibri" panose="020F0502020204030204" pitchFamily="34" charset="0"/>
              </a:rPr>
              <a:t> </a:t>
            </a:r>
            <a:r>
              <a:rPr lang="tr-TR" sz="900" b="0" i="0" u="none" baseline="0">
                <a:solidFill>
                  <a:srgbClr val="FF6600"/>
                </a:solidFill>
                <a:latin typeface="Microsoft Sans Serif" panose="020B0604020202020204" pitchFamily="34" charset="0"/>
              </a:rPr>
              <a:t>Borusan Group Confidential</a:t>
            </a:r>
          </a:p>
        </p:txBody>
      </p:sp>
    </p:spTree>
    <p:extLst>
      <p:ext uri="{BB962C8B-B14F-4D97-AF65-F5344CB8AC3E}">
        <p14:creationId xmlns:p14="http://schemas.microsoft.com/office/powerpoint/2010/main" val="32513021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90F190-5E90-48A2-B998-9E5242BFBE73}"/>
              </a:ext>
            </a:extLst>
          </p:cNvPr>
          <p:cNvSpPr txBox="1"/>
          <p:nvPr/>
        </p:nvSpPr>
        <p:spPr>
          <a:xfrm>
            <a:off x="5381624" y="3158650"/>
            <a:ext cx="7258399" cy="2739211"/>
          </a:xfrm>
          <a:prstGeom prst="rect">
            <a:avLst/>
          </a:prstGeom>
          <a:noFill/>
        </p:spPr>
        <p:txBody>
          <a:bodyPr wrap="square" rtlCol="0">
            <a:spAutoFit/>
          </a:bodyPr>
          <a:lstStyle/>
          <a:p>
            <a:pPr algn="ctr">
              <a:defRPr/>
            </a:pPr>
            <a:r>
              <a:rPr lang="en-US" sz="4800" dirty="0"/>
              <a:t>Business Automation Workflow </a:t>
            </a:r>
            <a:r>
              <a:rPr lang="en-US" sz="1200" dirty="0"/>
              <a:t>by IBM</a:t>
            </a:r>
            <a:endParaRPr lang="tr-TR" sz="1200" dirty="0"/>
          </a:p>
          <a:p>
            <a:pPr lvl="0" algn="ctr">
              <a:defRPr/>
            </a:pPr>
            <a:r>
              <a:rPr lang="en-US" sz="2400" dirty="0">
                <a:solidFill>
                  <a:prstClr val="black"/>
                </a:solidFill>
              </a:rPr>
              <a:t>Business Process Management (BPM)</a:t>
            </a:r>
          </a:p>
          <a:p>
            <a:pPr lvl="0" algn="ctr">
              <a:defRPr/>
            </a:pPr>
            <a:r>
              <a:rPr lang="en-US" sz="1600" dirty="0">
                <a:solidFill>
                  <a:prstClr val="black"/>
                </a:solidFill>
              </a:rPr>
              <a:t>Digital and Technology</a:t>
            </a:r>
          </a:p>
          <a:p>
            <a:pPr lvl="0" algn="ctr">
              <a:defRPr/>
            </a:pPr>
            <a:r>
              <a:rPr lang="en-US" sz="1600" dirty="0">
                <a:solidFill>
                  <a:prstClr val="black"/>
                </a:solidFill>
              </a:rPr>
              <a:t>Artificial Intelligence And Robotics Solutions</a:t>
            </a:r>
          </a:p>
          <a:p>
            <a:pPr lvl="0" algn="ctr">
              <a:defRPr/>
            </a:pPr>
            <a:endParaRPr lang="en-US" sz="2000" dirty="0">
              <a:solidFill>
                <a:prstClr val="black"/>
              </a:solidFill>
            </a:endParaRPr>
          </a:p>
        </p:txBody>
      </p:sp>
      <p:sp>
        <p:nvSpPr>
          <p:cNvPr id="2" name="TextBox 1">
            <a:extLst>
              <a:ext uri="{FF2B5EF4-FFF2-40B4-BE49-F238E27FC236}">
                <a16:creationId xmlns:a16="http://schemas.microsoft.com/office/drawing/2014/main" id="{4AE5AE31-52C0-4C30-AE83-1BBFAD71E1A1}"/>
              </a:ext>
            </a:extLst>
          </p:cNvPr>
          <p:cNvSpPr txBox="1"/>
          <p:nvPr/>
        </p:nvSpPr>
        <p:spPr>
          <a:xfrm>
            <a:off x="7356734" y="5466908"/>
            <a:ext cx="1598062" cy="738664"/>
          </a:xfrm>
          <a:prstGeom prst="rect">
            <a:avLst/>
          </a:prstGeom>
          <a:noFill/>
        </p:spPr>
        <p:txBody>
          <a:bodyPr wrap="square" rtlCol="0">
            <a:spAutoFit/>
          </a:bodyPr>
          <a:lstStyle/>
          <a:p>
            <a:pPr algn="ctr"/>
            <a:endParaRPr lang="en-US" dirty="0"/>
          </a:p>
          <a:p>
            <a:pPr algn="ctr"/>
            <a:r>
              <a:rPr lang="en-US" sz="1200" dirty="0" err="1"/>
              <a:t>Büşra</a:t>
            </a:r>
            <a:r>
              <a:rPr lang="en-US" sz="1200" dirty="0"/>
              <a:t> AYAR       </a:t>
            </a:r>
          </a:p>
          <a:p>
            <a:pPr algn="ctr"/>
            <a:r>
              <a:rPr lang="en-US" sz="1200" dirty="0"/>
              <a:t>RPA Developer</a:t>
            </a:r>
          </a:p>
        </p:txBody>
      </p:sp>
      <p:sp>
        <p:nvSpPr>
          <p:cNvPr id="4" name="TextBox 3">
            <a:extLst>
              <a:ext uri="{FF2B5EF4-FFF2-40B4-BE49-F238E27FC236}">
                <a16:creationId xmlns:a16="http://schemas.microsoft.com/office/drawing/2014/main" id="{4095F75F-2520-4BF4-AD21-B5057352B758}"/>
              </a:ext>
            </a:extLst>
          </p:cNvPr>
          <p:cNvSpPr txBox="1"/>
          <p:nvPr/>
        </p:nvSpPr>
        <p:spPr>
          <a:xfrm>
            <a:off x="9652469" y="5451016"/>
            <a:ext cx="1598062" cy="738664"/>
          </a:xfrm>
          <a:prstGeom prst="rect">
            <a:avLst/>
          </a:prstGeom>
          <a:noFill/>
        </p:spPr>
        <p:txBody>
          <a:bodyPr wrap="square" rtlCol="0">
            <a:spAutoFit/>
          </a:bodyPr>
          <a:lstStyle/>
          <a:p>
            <a:pPr algn="ctr"/>
            <a:endParaRPr lang="en-US" dirty="0"/>
          </a:p>
          <a:p>
            <a:pPr algn="ctr"/>
            <a:r>
              <a:rPr lang="en-US" sz="1200" dirty="0" err="1"/>
              <a:t>Gül</a:t>
            </a:r>
            <a:r>
              <a:rPr lang="en-US" sz="1200" dirty="0"/>
              <a:t> ULUTAŞ</a:t>
            </a:r>
          </a:p>
          <a:p>
            <a:pPr algn="ctr"/>
            <a:r>
              <a:rPr lang="en-US" sz="1200" dirty="0"/>
              <a:t>RPA Analyst</a:t>
            </a:r>
          </a:p>
        </p:txBody>
      </p:sp>
      <p:sp>
        <p:nvSpPr>
          <p:cNvPr id="6" name="TextBox 5">
            <a:extLst>
              <a:ext uri="{FF2B5EF4-FFF2-40B4-BE49-F238E27FC236}">
                <a16:creationId xmlns:a16="http://schemas.microsoft.com/office/drawing/2014/main" id="{5C4F4ACE-73F2-484B-843F-9578EBFD1BE2}"/>
              </a:ext>
            </a:extLst>
          </p:cNvPr>
          <p:cNvSpPr txBox="1"/>
          <p:nvPr/>
        </p:nvSpPr>
        <p:spPr>
          <a:xfrm>
            <a:off x="8375033" y="5458962"/>
            <a:ext cx="1912832" cy="738664"/>
          </a:xfrm>
          <a:prstGeom prst="rect">
            <a:avLst/>
          </a:prstGeom>
          <a:noFill/>
        </p:spPr>
        <p:txBody>
          <a:bodyPr wrap="square" rtlCol="0">
            <a:spAutoFit/>
          </a:bodyPr>
          <a:lstStyle/>
          <a:p>
            <a:pPr algn="ctr"/>
            <a:endParaRPr lang="en-US" dirty="0"/>
          </a:p>
          <a:p>
            <a:pPr algn="ctr"/>
            <a:r>
              <a:rPr lang="en-US" sz="1200" dirty="0"/>
              <a:t>Aizhan BAKIROVA</a:t>
            </a:r>
          </a:p>
          <a:p>
            <a:pPr algn="ctr"/>
            <a:r>
              <a:rPr lang="en-US" sz="1200" dirty="0"/>
              <a:t>RPA Analyst</a:t>
            </a:r>
          </a:p>
        </p:txBody>
      </p:sp>
    </p:spTree>
    <p:extLst>
      <p:ext uri="{BB962C8B-B14F-4D97-AF65-F5344CB8AC3E}">
        <p14:creationId xmlns:p14="http://schemas.microsoft.com/office/powerpoint/2010/main" val="3090205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73F3CD2-2B8F-4438-AB9B-90DEF18CA6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95475" y="747529"/>
            <a:ext cx="4864354" cy="2736199"/>
          </a:xfrm>
          <a:prstGeom prst="rect">
            <a:avLst/>
          </a:prstGeom>
        </p:spPr>
      </p:pic>
      <p:sp>
        <p:nvSpPr>
          <p:cNvPr id="14" name="TextBox 13">
            <a:extLst>
              <a:ext uri="{FF2B5EF4-FFF2-40B4-BE49-F238E27FC236}">
                <a16:creationId xmlns:a16="http://schemas.microsoft.com/office/drawing/2014/main" id="{C8C719BD-C71E-4AF9-A8F5-878323F28A52}"/>
              </a:ext>
            </a:extLst>
          </p:cNvPr>
          <p:cNvSpPr txBox="1"/>
          <p:nvPr/>
        </p:nvSpPr>
        <p:spPr>
          <a:xfrm>
            <a:off x="1720645" y="3532492"/>
            <a:ext cx="8750710"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highlight>
                  <a:srgbClr val="FFC000"/>
                </a:highlight>
                <a:uLnTx/>
                <a:uFillTx/>
                <a:latin typeface="Calibri" panose="020F0502020204030204"/>
                <a:ea typeface="+mn-ea"/>
                <a:cs typeface="+mn-cs"/>
              </a:rPr>
              <a:t>Business Process Management</a:t>
            </a:r>
          </a:p>
          <a:p>
            <a:pPr lvl="0"/>
            <a:endParaRPr lang="en-US" dirty="0">
              <a:solidFill>
                <a:prstClr val="black"/>
              </a:solidFill>
            </a:endParaRPr>
          </a:p>
          <a:p>
            <a:r>
              <a:rPr lang="en-US" dirty="0">
                <a:solidFill>
                  <a:prstClr val="black"/>
                </a:solidFill>
              </a:rPr>
              <a:t>BPM focuses on creating a consistent, automated process for routine operations and human interactions. It prevents time loss, reduces repetitive work and helps reduce operational costs of the business.</a:t>
            </a:r>
          </a:p>
          <a:p>
            <a:endParaRPr lang="en-US" dirty="0">
              <a:solidFill>
                <a:prstClr val="black"/>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prstClr val="black"/>
                </a:solidFill>
              </a:rPr>
              <a:t>Business Process Management helps organizations move towards digital transformation and achieve corporate goals. </a:t>
            </a:r>
          </a:p>
        </p:txBody>
      </p:sp>
      <p:sp>
        <p:nvSpPr>
          <p:cNvPr id="7" name="Rectangle 4">
            <a:extLst>
              <a:ext uri="{FF2B5EF4-FFF2-40B4-BE49-F238E27FC236}">
                <a16:creationId xmlns:a16="http://schemas.microsoft.com/office/drawing/2014/main" id="{A185DC31-C9F8-4BD6-BC09-4F751F850869}"/>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6226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4766DA3D-CA73-4919-A25A-D9A2D3CFA58A}"/>
              </a:ext>
            </a:extLst>
          </p:cNvPr>
          <p:cNvPicPr>
            <a:picLocks noChangeAspect="1"/>
          </p:cNvPicPr>
          <p:nvPr/>
        </p:nvPicPr>
        <p:blipFill>
          <a:blip r:embed="rId6"/>
          <a:stretch>
            <a:fillRect/>
          </a:stretch>
        </p:blipFill>
        <p:spPr>
          <a:xfrm>
            <a:off x="690708" y="2262610"/>
            <a:ext cx="7733010" cy="4202014"/>
          </a:xfrm>
          <a:prstGeom prst="rect">
            <a:avLst/>
          </a:prstGeom>
        </p:spPr>
      </p:pic>
      <p:sp>
        <p:nvSpPr>
          <p:cNvPr id="2" name="TextBox 1">
            <a:extLst>
              <a:ext uri="{FF2B5EF4-FFF2-40B4-BE49-F238E27FC236}">
                <a16:creationId xmlns:a16="http://schemas.microsoft.com/office/drawing/2014/main" id="{8D61BE47-085B-4C52-8B01-B82EB6A77A84}"/>
              </a:ext>
            </a:extLst>
          </p:cNvPr>
          <p:cNvSpPr txBox="1"/>
          <p:nvPr/>
        </p:nvSpPr>
        <p:spPr>
          <a:xfrm>
            <a:off x="3261678" y="483805"/>
            <a:ext cx="5318620" cy="461665"/>
          </a:xfrm>
          <a:prstGeom prst="rect">
            <a:avLst/>
          </a:prstGeom>
          <a:noFill/>
        </p:spPr>
        <p:txBody>
          <a:bodyPr wrap="square" rtlCol="0">
            <a:spAutoFit/>
          </a:bodyPr>
          <a:lstStyle/>
          <a:p>
            <a:pPr algn="ctr"/>
            <a:r>
              <a:rPr lang="en-US" sz="2400" b="1" dirty="0" err="1"/>
              <a:t>WorkFlow</a:t>
            </a:r>
            <a:endParaRPr lang="tr-TR" sz="2400" b="1" dirty="0"/>
          </a:p>
        </p:txBody>
      </p:sp>
      <p:sp>
        <p:nvSpPr>
          <p:cNvPr id="3" name="TextBox 2">
            <a:extLst>
              <a:ext uri="{FF2B5EF4-FFF2-40B4-BE49-F238E27FC236}">
                <a16:creationId xmlns:a16="http://schemas.microsoft.com/office/drawing/2014/main" id="{0652DB3A-7A6D-4021-B5C3-41C96B255DA3}"/>
              </a:ext>
            </a:extLst>
          </p:cNvPr>
          <p:cNvSpPr txBox="1"/>
          <p:nvPr/>
        </p:nvSpPr>
        <p:spPr>
          <a:xfrm>
            <a:off x="560438" y="963493"/>
            <a:ext cx="11364518" cy="1200329"/>
          </a:xfrm>
          <a:prstGeom prst="rect">
            <a:avLst/>
          </a:prstGeom>
          <a:noFill/>
        </p:spPr>
        <p:txBody>
          <a:bodyPr wrap="square" rtlCol="0">
            <a:spAutoFit/>
          </a:bodyPr>
          <a:lstStyle/>
          <a:p>
            <a:r>
              <a:rPr lang="en-US" dirty="0">
                <a:solidFill>
                  <a:prstClr val="black"/>
                </a:solidFill>
              </a:rPr>
              <a:t>Workflow is defined as a sequence of tasks that processes data through a specific path. The steps required to achieve the goal are shown. The steps in the process are interrelated.</a:t>
            </a:r>
          </a:p>
          <a:p>
            <a:r>
              <a:rPr lang="en-US" dirty="0">
                <a:solidFill>
                  <a:prstClr val="black"/>
                </a:solidFill>
              </a:rPr>
              <a:t>If there are different departments, they are indicated in the flow. Mail notification, call web service, two-step confirmation, etc. All transactions are specified in the flow. (LDAP, SAP, RPA, 1C, </a:t>
            </a:r>
            <a:r>
              <a:rPr lang="en-US" dirty="0" err="1">
                <a:solidFill>
                  <a:prstClr val="black"/>
                </a:solidFill>
              </a:rPr>
              <a:t>func</a:t>
            </a:r>
            <a:r>
              <a:rPr lang="en-US" dirty="0">
                <a:solidFill>
                  <a:prstClr val="black"/>
                </a:solidFill>
              </a:rPr>
              <a:t>., business rules)</a:t>
            </a:r>
            <a:endParaRPr lang="tr-TR" dirty="0">
              <a:solidFill>
                <a:prstClr val="black"/>
              </a:solidFill>
            </a:endParaRPr>
          </a:p>
        </p:txBody>
      </p:sp>
      <p:pic>
        <p:nvPicPr>
          <p:cNvPr id="11" name="Picture 10">
            <a:extLst>
              <a:ext uri="{FF2B5EF4-FFF2-40B4-BE49-F238E27FC236}">
                <a16:creationId xmlns:a16="http://schemas.microsoft.com/office/drawing/2014/main" id="{325A5F3F-88DA-43C4-8153-F818A17A6DC2}"/>
              </a:ext>
            </a:extLst>
          </p:cNvPr>
          <p:cNvPicPr>
            <a:picLocks noChangeAspect="1"/>
          </p:cNvPicPr>
          <p:nvPr/>
        </p:nvPicPr>
        <p:blipFill>
          <a:blip r:embed="rId7"/>
          <a:stretch>
            <a:fillRect/>
          </a:stretch>
        </p:blipFill>
        <p:spPr>
          <a:xfrm>
            <a:off x="8580298" y="2262610"/>
            <a:ext cx="3586670" cy="3801114"/>
          </a:xfrm>
          <a:prstGeom prst="rect">
            <a:avLst/>
          </a:prstGeom>
        </p:spPr>
      </p:pic>
    </p:spTree>
    <p:extLst>
      <p:ext uri="{BB962C8B-B14F-4D97-AF65-F5344CB8AC3E}">
        <p14:creationId xmlns:p14="http://schemas.microsoft.com/office/powerpoint/2010/main" val="378141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D61BE47-085B-4C52-8B01-B82EB6A77A84}"/>
              </a:ext>
            </a:extLst>
          </p:cNvPr>
          <p:cNvSpPr txBox="1"/>
          <p:nvPr/>
        </p:nvSpPr>
        <p:spPr>
          <a:xfrm>
            <a:off x="3057347" y="442702"/>
            <a:ext cx="53186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Calibri" panose="020F0502020204030204"/>
              </a:rPr>
              <a:t>Forms (Screen)</a:t>
            </a:r>
            <a:endParaRPr kumimoji="0" lang="tr-TR"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D118CE9C-38F8-4A92-83C8-C098EC5B65C3}"/>
              </a:ext>
            </a:extLst>
          </p:cNvPr>
          <p:cNvPicPr/>
          <p:nvPr/>
        </p:nvPicPr>
        <p:blipFill>
          <a:blip r:embed="rId6"/>
          <a:stretch>
            <a:fillRect/>
          </a:stretch>
        </p:blipFill>
        <p:spPr>
          <a:xfrm>
            <a:off x="4790114" y="1052356"/>
            <a:ext cx="4639111" cy="5319087"/>
          </a:xfrm>
          <a:prstGeom prst="rect">
            <a:avLst/>
          </a:prstGeom>
        </p:spPr>
      </p:pic>
      <p:sp>
        <p:nvSpPr>
          <p:cNvPr id="13" name="TextBox 12">
            <a:extLst>
              <a:ext uri="{FF2B5EF4-FFF2-40B4-BE49-F238E27FC236}">
                <a16:creationId xmlns:a16="http://schemas.microsoft.com/office/drawing/2014/main" id="{86619D49-2436-406E-8D4F-071A9AEDF63B}"/>
              </a:ext>
            </a:extLst>
          </p:cNvPr>
          <p:cNvSpPr txBox="1"/>
          <p:nvPr/>
        </p:nvSpPr>
        <p:spPr>
          <a:xfrm>
            <a:off x="560438" y="1269930"/>
            <a:ext cx="3288485" cy="2031325"/>
          </a:xfrm>
          <a:prstGeom prst="rect">
            <a:avLst/>
          </a:prstGeom>
          <a:noFill/>
        </p:spPr>
        <p:txBody>
          <a:bodyPr wrap="square" rtlCol="0">
            <a:spAutoFit/>
          </a:bodyPr>
          <a:lstStyle/>
          <a:p>
            <a:r>
              <a:rPr lang="en-US" dirty="0">
                <a:solidFill>
                  <a:prstClr val="black"/>
                </a:solidFill>
              </a:rPr>
              <a:t>If there is a need for shared screens in the example, it can create it as desired. In these forms, we can fill in the default fields and make calculations and save them as pdf or upload them to </a:t>
            </a:r>
            <a:r>
              <a:rPr lang="en-US" dirty="0" err="1">
                <a:solidFill>
                  <a:prstClr val="black"/>
                </a:solidFill>
              </a:rPr>
              <a:t>opentext</a:t>
            </a:r>
            <a:r>
              <a:rPr lang="en-US" dirty="0">
                <a:solidFill>
                  <a:prstClr val="black"/>
                </a:solidFill>
              </a:rPr>
              <a:t>.</a:t>
            </a:r>
            <a:endParaRPr lang="tr-TR" dirty="0">
              <a:solidFill>
                <a:prstClr val="black"/>
              </a:solidFill>
            </a:endParaRPr>
          </a:p>
        </p:txBody>
      </p:sp>
    </p:spTree>
    <p:extLst>
      <p:ext uri="{BB962C8B-B14F-4D97-AF65-F5344CB8AC3E}">
        <p14:creationId xmlns:p14="http://schemas.microsoft.com/office/powerpoint/2010/main" val="539286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F896884-BB4A-43E4-A077-71D09B9D1E2D}"/>
              </a:ext>
            </a:extLst>
          </p:cNvPr>
          <p:cNvSpPr txBox="1"/>
          <p:nvPr/>
        </p:nvSpPr>
        <p:spPr>
          <a:xfrm>
            <a:off x="1883343" y="1167522"/>
            <a:ext cx="6382013" cy="923330"/>
          </a:xfrm>
          <a:prstGeom prst="rect">
            <a:avLst/>
          </a:prstGeom>
          <a:noFill/>
        </p:spPr>
        <p:txBody>
          <a:bodyPr wrap="square" rtlCol="0">
            <a:spAutoFit/>
          </a:bodyPr>
          <a:lstStyle/>
          <a:p>
            <a:pPr lvl="0" algn="ctr">
              <a:defRPr/>
            </a:pPr>
            <a:r>
              <a:rPr lang="en-US" b="1" dirty="0">
                <a:solidFill>
                  <a:prstClr val="black"/>
                </a:solidFill>
              </a:rPr>
              <a:t>Which Processes are Suitable for BPM ?</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76319582-2E85-4C0D-94B2-BDC39B27D92B}"/>
              </a:ext>
            </a:extLst>
          </p:cNvPr>
          <p:cNvSpPr txBox="1"/>
          <p:nvPr/>
        </p:nvSpPr>
        <p:spPr>
          <a:xfrm>
            <a:off x="284085" y="2090852"/>
            <a:ext cx="11640872" cy="2862322"/>
          </a:xfrm>
          <a:prstGeom prst="rect">
            <a:avLst/>
          </a:prstGeom>
          <a:noFill/>
        </p:spPr>
        <p:txBody>
          <a:bodyPr wrap="square" rtlCol="0">
            <a:spAutoFit/>
          </a:bodyPr>
          <a:lstStyle/>
          <a:p>
            <a:r>
              <a:rPr lang="en-US" dirty="0">
                <a:solidFill>
                  <a:prstClr val="black"/>
                </a:solidFill>
              </a:rPr>
              <a:t>If workflows that require approval between different departments are required, these workflows can vary:</a:t>
            </a:r>
          </a:p>
          <a:p>
            <a:pPr marL="285750" indent="-285750">
              <a:buFont typeface="Arial" panose="020B0604020202020204" pitchFamily="34" charset="0"/>
              <a:buChar char="•"/>
            </a:pPr>
            <a:r>
              <a:rPr lang="en-US" dirty="0">
                <a:solidFill>
                  <a:prstClr val="black"/>
                </a:solidFill>
              </a:rPr>
              <a:t>In processes that require manual approval flow can be used to digitize approval flow</a:t>
            </a:r>
          </a:p>
          <a:p>
            <a:pPr marL="285750" indent="-285750">
              <a:buFont typeface="Arial" panose="020B0604020202020204" pitchFamily="34" charset="0"/>
              <a:buChar char="•"/>
            </a:pPr>
            <a:r>
              <a:rPr lang="en-US" dirty="0">
                <a:solidFill>
                  <a:prstClr val="black"/>
                </a:solidFill>
              </a:rPr>
              <a:t>In processes that have business rules (permission process)</a:t>
            </a:r>
          </a:p>
          <a:p>
            <a:pPr marL="285750" indent="-285750">
              <a:buFont typeface="Arial" panose="020B0604020202020204" pitchFamily="34" charset="0"/>
              <a:buChar char="•"/>
            </a:pPr>
            <a:r>
              <a:rPr lang="en-US" dirty="0">
                <a:solidFill>
                  <a:prstClr val="black"/>
                </a:solidFill>
              </a:rPr>
              <a:t>In manual processes where are the hard copy using</a:t>
            </a:r>
          </a:p>
          <a:p>
            <a:pPr marL="285750" indent="-285750">
              <a:buFont typeface="Arial" panose="020B0604020202020204" pitchFamily="34" charset="0"/>
              <a:buChar char="•"/>
            </a:pPr>
            <a:r>
              <a:rPr lang="en-US" dirty="0">
                <a:solidFill>
                  <a:prstClr val="black"/>
                </a:solidFill>
              </a:rPr>
              <a:t>Parallel flow or serial (sequential) approval flow needs if multiple people, managers, and departments are involved in the flow</a:t>
            </a:r>
          </a:p>
          <a:p>
            <a:pPr marL="285750" indent="-285750">
              <a:buFont typeface="Arial" panose="020B0604020202020204" pitchFamily="34" charset="0"/>
              <a:buChar char="•"/>
            </a:pPr>
            <a:r>
              <a:rPr lang="en-US" dirty="0">
                <a:solidFill>
                  <a:prstClr val="black"/>
                </a:solidFill>
              </a:rPr>
              <a:t>If there are manual form filling needs and their digitization (automatic filling of the specified fields in the form)</a:t>
            </a:r>
          </a:p>
          <a:p>
            <a:pPr marL="285750" indent="-285750">
              <a:buFont typeface="Arial" panose="020B0604020202020204" pitchFamily="34" charset="0"/>
              <a:buChar char="•"/>
            </a:pPr>
            <a:r>
              <a:rPr lang="en-US" dirty="0">
                <a:solidFill>
                  <a:prstClr val="black"/>
                </a:solidFill>
              </a:rPr>
              <a:t>If there is a need for integration  such as 1C , SAP, accounting register</a:t>
            </a:r>
          </a:p>
          <a:p>
            <a:pPr marL="285750" indent="-285750">
              <a:buFont typeface="Arial" panose="020B0604020202020204" pitchFamily="34" charset="0"/>
              <a:buChar char="•"/>
            </a:pPr>
            <a:r>
              <a:rPr lang="en-US" dirty="0">
                <a:solidFill>
                  <a:prstClr val="black"/>
                </a:solidFill>
              </a:rPr>
              <a:t>If there is a need for reporting for fast progress and archiving of all forms</a:t>
            </a:r>
          </a:p>
          <a:p>
            <a:pPr marL="285750" indent="-285750">
              <a:buFont typeface="Arial" panose="020B0604020202020204" pitchFamily="34" charset="0"/>
              <a:buChar char="•"/>
            </a:pPr>
            <a:endParaRPr lang="tr-TR" dirty="0">
              <a:solidFill>
                <a:prstClr val="black"/>
              </a:solidFill>
            </a:endParaRPr>
          </a:p>
        </p:txBody>
      </p:sp>
    </p:spTree>
    <p:extLst>
      <p:ext uri="{BB962C8B-B14F-4D97-AF65-F5344CB8AC3E}">
        <p14:creationId xmlns:p14="http://schemas.microsoft.com/office/powerpoint/2010/main" val="2439298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DE3476B-8193-412F-AEA1-06311D28DFFE}"/>
              </a:ext>
            </a:extLst>
          </p:cNvPr>
          <p:cNvSpPr txBox="1"/>
          <p:nvPr/>
        </p:nvSpPr>
        <p:spPr>
          <a:xfrm>
            <a:off x="710535" y="1164584"/>
            <a:ext cx="7288162" cy="1200329"/>
          </a:xfrm>
          <a:prstGeom prst="rect">
            <a:avLst/>
          </a:prstGeom>
          <a:noFill/>
        </p:spPr>
        <p:txBody>
          <a:bodyPr wrap="square" rtlCol="0">
            <a:spAutoFit/>
          </a:bodyPr>
          <a:lstStyle/>
          <a:p>
            <a:r>
              <a:rPr lang="en-US" b="1" dirty="0"/>
              <a:t>                                                         How to Process Begin ?</a:t>
            </a:r>
          </a:p>
          <a:p>
            <a:endParaRPr lang="en-US" b="1" dirty="0"/>
          </a:p>
          <a:p>
            <a:pPr marL="285750" indent="-285750">
              <a:buFont typeface="Arial" panose="020B0604020202020204" pitchFamily="34" charset="0"/>
              <a:buChar char="•"/>
            </a:pPr>
            <a:r>
              <a:rPr lang="en-US" dirty="0">
                <a:solidFill>
                  <a:prstClr val="black"/>
                </a:solidFill>
              </a:rPr>
              <a:t>Go to the </a:t>
            </a:r>
            <a:r>
              <a:rPr lang="en-US" dirty="0" err="1">
                <a:solidFill>
                  <a:prstClr val="black"/>
                </a:solidFill>
              </a:rPr>
              <a:t>Rocat</a:t>
            </a:r>
            <a:r>
              <a:rPr lang="en-US" dirty="0">
                <a:solidFill>
                  <a:prstClr val="black"/>
                </a:solidFill>
              </a:rPr>
              <a:t> page.</a:t>
            </a:r>
          </a:p>
          <a:p>
            <a:pPr marL="285750" indent="-285750">
              <a:buFont typeface="Arial" panose="020B0604020202020204" pitchFamily="34" charset="0"/>
              <a:buChar char="•"/>
            </a:pPr>
            <a:r>
              <a:rPr lang="en-US" dirty="0">
                <a:solidFill>
                  <a:prstClr val="black"/>
                </a:solidFill>
              </a:rPr>
              <a:t>Login is made by clicking Process Portal.</a:t>
            </a:r>
          </a:p>
        </p:txBody>
      </p:sp>
      <p:pic>
        <p:nvPicPr>
          <p:cNvPr id="2" name="Picture 1">
            <a:extLst>
              <a:ext uri="{FF2B5EF4-FFF2-40B4-BE49-F238E27FC236}">
                <a16:creationId xmlns:a16="http://schemas.microsoft.com/office/drawing/2014/main" id="{4C16F65E-E349-47D2-AAEA-AE6D682B08A7}"/>
              </a:ext>
            </a:extLst>
          </p:cNvPr>
          <p:cNvPicPr>
            <a:picLocks noChangeAspect="1"/>
          </p:cNvPicPr>
          <p:nvPr/>
        </p:nvPicPr>
        <p:blipFill>
          <a:blip r:embed="rId6"/>
          <a:stretch>
            <a:fillRect/>
          </a:stretch>
        </p:blipFill>
        <p:spPr>
          <a:xfrm>
            <a:off x="993059" y="2561201"/>
            <a:ext cx="8696325" cy="3000375"/>
          </a:xfrm>
          <a:prstGeom prst="rect">
            <a:avLst/>
          </a:prstGeom>
        </p:spPr>
      </p:pic>
    </p:spTree>
    <p:extLst>
      <p:ext uri="{BB962C8B-B14F-4D97-AF65-F5344CB8AC3E}">
        <p14:creationId xmlns:p14="http://schemas.microsoft.com/office/powerpoint/2010/main" val="2934428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descr="Process Portal - Work - Google Chrome">
            <a:extLst>
              <a:ext uri="{FF2B5EF4-FFF2-40B4-BE49-F238E27FC236}">
                <a16:creationId xmlns:a16="http://schemas.microsoft.com/office/drawing/2014/main" id="{D0D6D3A7-CC17-4244-8E64-22F7B5289C41}"/>
              </a:ext>
            </a:extLst>
          </p:cNvPr>
          <p:cNvPicPr/>
          <p:nvPr/>
        </p:nvPicPr>
        <p:blipFill rotWithShape="1">
          <a:blip r:embed="rId6">
            <a:extLst>
              <a:ext uri="{28A0092B-C50C-407E-A947-70E740481C1C}">
                <a14:useLocalDpi xmlns:a14="http://schemas.microsoft.com/office/drawing/2010/main" val="0"/>
              </a:ext>
            </a:extLst>
          </a:blip>
          <a:srcRect t="50944"/>
          <a:stretch/>
        </p:blipFill>
        <p:spPr bwMode="auto">
          <a:xfrm>
            <a:off x="7255380" y="1712899"/>
            <a:ext cx="3651198" cy="4340401"/>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35DB8408-FBD9-46D6-A33C-00120592F354}"/>
              </a:ext>
            </a:extLst>
          </p:cNvPr>
          <p:cNvSpPr txBox="1"/>
          <p:nvPr/>
        </p:nvSpPr>
        <p:spPr>
          <a:xfrm>
            <a:off x="492078" y="1095022"/>
            <a:ext cx="6181725" cy="2862322"/>
          </a:xfrm>
          <a:prstGeom prst="rect">
            <a:avLst/>
          </a:prstGeom>
          <a:noFill/>
        </p:spPr>
        <p:txBody>
          <a:bodyPr wrap="square" rtlCol="0">
            <a:spAutoFit/>
          </a:bodyPr>
          <a:lstStyle/>
          <a:p>
            <a:r>
              <a:rPr lang="en-US" dirty="0">
                <a:solidFill>
                  <a:prstClr val="black"/>
                </a:solidFill>
              </a:rPr>
              <a:t>Login to the portal with username and password.</a:t>
            </a:r>
          </a:p>
          <a:p>
            <a:r>
              <a:rPr lang="en-US" dirty="0">
                <a:solidFill>
                  <a:prstClr val="black"/>
                </a:solidFill>
              </a:rPr>
              <a:t>If a process has been assigned to you, a login link will be sent by e-mail.</a:t>
            </a:r>
          </a:p>
          <a:p>
            <a:endParaRPr lang="en-US" dirty="0">
              <a:solidFill>
                <a:prstClr val="black"/>
              </a:solidFill>
            </a:endParaRPr>
          </a:p>
          <a:p>
            <a:r>
              <a:rPr lang="en-US" dirty="0">
                <a:solidFill>
                  <a:prstClr val="black"/>
                </a:solidFill>
              </a:rPr>
              <a:t>These are responsive forms. In other words, the phone is shaped in accordance with the tablet computer.</a:t>
            </a:r>
            <a:endParaRPr lang="tr-TR" dirty="0">
              <a:solidFill>
                <a:prstClr val="black"/>
              </a:solidFill>
            </a:endParaRPr>
          </a:p>
          <a:p>
            <a:br>
              <a:rPr lang="en-US" dirty="0"/>
            </a:br>
            <a:r>
              <a:rPr lang="en-US" dirty="0"/>
              <a:t>If you will start a process : </a:t>
            </a:r>
            <a:r>
              <a:rPr lang="en-US" dirty="0">
                <a:solidFill>
                  <a:prstClr val="black"/>
                </a:solidFill>
              </a:rPr>
              <a:t>BPM processes are opened to authorized people. The process you want to start is started by clicking.</a:t>
            </a:r>
            <a:endParaRPr lang="tr-TR" dirty="0">
              <a:solidFill>
                <a:prstClr val="black"/>
              </a:solidFill>
            </a:endParaRPr>
          </a:p>
        </p:txBody>
      </p:sp>
      <p:pic>
        <p:nvPicPr>
          <p:cNvPr id="9" name="Picture 8">
            <a:extLst>
              <a:ext uri="{FF2B5EF4-FFF2-40B4-BE49-F238E27FC236}">
                <a16:creationId xmlns:a16="http://schemas.microsoft.com/office/drawing/2014/main" id="{6A5EEB3C-59CD-4012-A721-14653D9A4144}"/>
              </a:ext>
            </a:extLst>
          </p:cNvPr>
          <p:cNvPicPr>
            <a:picLocks noChangeAspect="1"/>
          </p:cNvPicPr>
          <p:nvPr/>
        </p:nvPicPr>
        <p:blipFill rotWithShape="1">
          <a:blip r:embed="rId7"/>
          <a:srcRect t="13885"/>
          <a:stretch/>
        </p:blipFill>
        <p:spPr>
          <a:xfrm>
            <a:off x="492078" y="3974504"/>
            <a:ext cx="4483437" cy="2440794"/>
          </a:xfrm>
          <a:prstGeom prst="rect">
            <a:avLst/>
          </a:prstGeom>
        </p:spPr>
      </p:pic>
    </p:spTree>
    <p:extLst>
      <p:ext uri="{BB962C8B-B14F-4D97-AF65-F5344CB8AC3E}">
        <p14:creationId xmlns:p14="http://schemas.microsoft.com/office/powerpoint/2010/main" val="420761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684725" y="427349"/>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descr="Process Portal - Work - Google Chrome">
            <a:extLst>
              <a:ext uri="{FF2B5EF4-FFF2-40B4-BE49-F238E27FC236}">
                <a16:creationId xmlns:a16="http://schemas.microsoft.com/office/drawing/2014/main" id="{595DB513-2C97-4AE4-88A9-DA217F9E23D2}"/>
              </a:ext>
            </a:extLst>
          </p:cNvPr>
          <p:cNvPicPr/>
          <p:nvPr/>
        </p:nvPicPr>
        <p:blipFill rotWithShape="1">
          <a:blip r:embed="rId6" cstate="print">
            <a:extLst>
              <a:ext uri="{28A0092B-C50C-407E-A947-70E740481C1C}">
                <a14:useLocalDpi xmlns:a14="http://schemas.microsoft.com/office/drawing/2010/main" val="0"/>
              </a:ext>
            </a:extLst>
          </a:blip>
          <a:srcRect l="13652" t="42854"/>
          <a:stretch/>
        </p:blipFill>
        <p:spPr bwMode="auto">
          <a:xfrm>
            <a:off x="466077" y="2191150"/>
            <a:ext cx="7492953" cy="4395999"/>
          </a:xfrm>
          <a:prstGeom prst="rect">
            <a:avLst/>
          </a:prstGeom>
          <a:noFill/>
          <a:ln>
            <a:noFill/>
          </a:ln>
          <a:extLst>
            <a:ext uri="{53640926-AAD7-44D8-BBD7-CCE9431645EC}">
              <a14:shadowObscured xmlns:a14="http://schemas.microsoft.com/office/drawing/2010/main"/>
            </a:ext>
          </a:extLst>
        </p:spPr>
      </p:pic>
      <p:pic>
        <p:nvPicPr>
          <p:cNvPr id="13" name="Picture 12" descr="Process Portal - Work - Google Chrome">
            <a:extLst>
              <a:ext uri="{FF2B5EF4-FFF2-40B4-BE49-F238E27FC236}">
                <a16:creationId xmlns:a16="http://schemas.microsoft.com/office/drawing/2014/main" id="{DB2E3477-0B69-4545-816A-C6FC44EBF67B}"/>
              </a:ext>
            </a:extLst>
          </p:cNvPr>
          <p:cNvPicPr/>
          <p:nvPr/>
        </p:nvPicPr>
        <p:blipFill rotWithShape="1">
          <a:blip r:embed="rId7">
            <a:extLst>
              <a:ext uri="{28A0092B-C50C-407E-A947-70E740481C1C}">
                <a14:useLocalDpi xmlns:a14="http://schemas.microsoft.com/office/drawing/2010/main" val="0"/>
              </a:ext>
            </a:extLst>
          </a:blip>
          <a:srcRect l="41537" t="76541"/>
          <a:stretch/>
        </p:blipFill>
        <p:spPr bwMode="auto">
          <a:xfrm>
            <a:off x="8158480" y="1864385"/>
            <a:ext cx="3217545" cy="1405890"/>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9DF3CAE2-C60C-462F-BE81-4B8F63B316E7}"/>
              </a:ext>
            </a:extLst>
          </p:cNvPr>
          <p:cNvSpPr txBox="1"/>
          <p:nvPr/>
        </p:nvSpPr>
        <p:spPr>
          <a:xfrm>
            <a:off x="513239" y="1152411"/>
            <a:ext cx="7142065" cy="923330"/>
          </a:xfrm>
          <a:prstGeom prst="rect">
            <a:avLst/>
          </a:prstGeom>
          <a:noFill/>
        </p:spPr>
        <p:txBody>
          <a:bodyPr wrap="square" rtlCol="0">
            <a:spAutoFit/>
          </a:bodyPr>
          <a:lstStyle/>
          <a:p>
            <a:r>
              <a:rPr lang="en-US" dirty="0">
                <a:solidFill>
                  <a:prstClr val="black"/>
                </a:solidFill>
              </a:rPr>
              <a:t>When the process starts, a task is assigned to the relevant person and an e-mail is sent to that person. In addition, assigned tasks can be viewed on the same screen.</a:t>
            </a:r>
            <a:endParaRPr lang="tr-TR" dirty="0">
              <a:solidFill>
                <a:prstClr val="black"/>
              </a:solidFill>
            </a:endParaRPr>
          </a:p>
        </p:txBody>
      </p:sp>
    </p:spTree>
    <p:extLst>
      <p:ext uri="{BB962C8B-B14F-4D97-AF65-F5344CB8AC3E}">
        <p14:creationId xmlns:p14="http://schemas.microsoft.com/office/powerpoint/2010/main" val="216533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BEB9EE54-47C9-4D97-82DC-FB936B76A16A}"/>
              </a:ext>
            </a:extLst>
          </p:cNvPr>
          <p:cNvPicPr/>
          <p:nvPr/>
        </p:nvPicPr>
        <p:blipFill>
          <a:blip r:embed="rId6"/>
          <a:stretch>
            <a:fillRect/>
          </a:stretch>
        </p:blipFill>
        <p:spPr>
          <a:xfrm>
            <a:off x="3937950" y="132604"/>
            <a:ext cx="5838829" cy="6268196"/>
          </a:xfrm>
          <a:prstGeom prst="rect">
            <a:avLst/>
          </a:prstGeom>
        </p:spPr>
      </p:pic>
      <p:sp>
        <p:nvSpPr>
          <p:cNvPr id="11" name="TextBox 10">
            <a:extLst>
              <a:ext uri="{FF2B5EF4-FFF2-40B4-BE49-F238E27FC236}">
                <a16:creationId xmlns:a16="http://schemas.microsoft.com/office/drawing/2014/main" id="{09EA52EA-A472-4988-9035-5C1F6C7E84FE}"/>
              </a:ext>
            </a:extLst>
          </p:cNvPr>
          <p:cNvSpPr txBox="1"/>
          <p:nvPr/>
        </p:nvSpPr>
        <p:spPr>
          <a:xfrm>
            <a:off x="189884" y="1062057"/>
            <a:ext cx="3748066" cy="48013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An </a:t>
            </a:r>
            <a:r>
              <a:rPr lang="tr-TR" dirty="0" err="1"/>
              <a:t>example</a:t>
            </a:r>
            <a:r>
              <a:rPr lang="tr-TR" dirty="0"/>
              <a:t> </a:t>
            </a:r>
            <a:r>
              <a:rPr lang="en-US" dirty="0"/>
              <a:t>BPM</a:t>
            </a:r>
            <a:r>
              <a:rPr lang="tr-TR" dirty="0"/>
              <a:t> </a:t>
            </a:r>
            <a:r>
              <a:rPr lang="tr-TR" dirty="0" err="1"/>
              <a:t>process</a:t>
            </a:r>
            <a:r>
              <a:rPr lang="en-US" dirty="0"/>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In this process, our aim is to digitize marine technician approval forms.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assignment form created for the technician using BPM technology is sent to the approval of the relevant people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If any of the relevant people do not approve, the service operations engineer revises the process and restarts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After all approvals are given, the assignment letter created will be stored as pdf in the specified folder.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There are 3 different types of forms;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2 forms type, after the approval of the director, the 1 form type assignment form is finalized after the approval of the manager.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Any rule can be added to the flow.</a:t>
            </a:r>
            <a:endParaRPr lang="tr-TR" sz="1400" dirty="0"/>
          </a:p>
        </p:txBody>
      </p:sp>
    </p:spTree>
    <p:extLst>
      <p:ext uri="{BB962C8B-B14F-4D97-AF65-F5344CB8AC3E}">
        <p14:creationId xmlns:p14="http://schemas.microsoft.com/office/powerpoint/2010/main" val="249671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Process Portal - Step: Teknisyen onayı - Google Chrome">
            <a:extLst>
              <a:ext uri="{FF2B5EF4-FFF2-40B4-BE49-F238E27FC236}">
                <a16:creationId xmlns:a16="http://schemas.microsoft.com/office/drawing/2014/main" id="{CC5B88E1-B724-496B-80F3-F5EF569505C6}"/>
              </a:ext>
            </a:extLst>
          </p:cNvPr>
          <p:cNvPicPr/>
          <p:nvPr/>
        </p:nvPicPr>
        <p:blipFill rotWithShape="1">
          <a:blip r:embed="rId6" cstate="print">
            <a:extLst>
              <a:ext uri="{28A0092B-C50C-407E-A947-70E740481C1C}">
                <a14:useLocalDpi xmlns:a14="http://schemas.microsoft.com/office/drawing/2010/main" val="0"/>
              </a:ext>
            </a:extLst>
          </a:blip>
          <a:srcRect t="3288"/>
          <a:stretch/>
        </p:blipFill>
        <p:spPr bwMode="auto">
          <a:xfrm>
            <a:off x="2467896" y="304832"/>
            <a:ext cx="6471005" cy="6110466"/>
          </a:xfrm>
          <a:prstGeom prst="rect">
            <a:avLst/>
          </a:prstGeom>
          <a:noFill/>
          <a:ln>
            <a:noFill/>
          </a:ln>
        </p:spPr>
      </p:pic>
      <p:pic>
        <p:nvPicPr>
          <p:cNvPr id="11" name="Picture 10" descr="Process Portal - Work - Google Chrome">
            <a:extLst>
              <a:ext uri="{FF2B5EF4-FFF2-40B4-BE49-F238E27FC236}">
                <a16:creationId xmlns:a16="http://schemas.microsoft.com/office/drawing/2014/main" id="{DEDED67D-67FD-41F8-8FC6-00F17A67D5AA}"/>
              </a:ext>
            </a:extLst>
          </p:cNvPr>
          <p:cNvPicPr/>
          <p:nvPr/>
        </p:nvPicPr>
        <p:blipFill rotWithShape="1">
          <a:blip r:embed="rId7">
            <a:extLst>
              <a:ext uri="{28A0092B-C50C-407E-A947-70E740481C1C}">
                <a14:useLocalDpi xmlns:a14="http://schemas.microsoft.com/office/drawing/2010/main" val="0"/>
              </a:ext>
            </a:extLst>
          </a:blip>
          <a:srcRect l="47033" t="82459" b="5095"/>
          <a:stretch/>
        </p:blipFill>
        <p:spPr bwMode="auto">
          <a:xfrm>
            <a:off x="9210710" y="3328363"/>
            <a:ext cx="2846070" cy="819150"/>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0DD048C5-074B-469C-92E9-6F4ED645CA31}"/>
              </a:ext>
            </a:extLst>
          </p:cNvPr>
          <p:cNvSpPr txBox="1"/>
          <p:nvPr/>
        </p:nvSpPr>
        <p:spPr>
          <a:xfrm>
            <a:off x="9420837" y="1144651"/>
            <a:ext cx="2164359" cy="1754326"/>
          </a:xfrm>
          <a:prstGeom prst="rect">
            <a:avLst/>
          </a:prstGeom>
          <a:noFill/>
        </p:spPr>
        <p:txBody>
          <a:bodyPr wrap="square" rtlCol="0">
            <a:spAutoFit/>
          </a:bodyPr>
          <a:lstStyle/>
          <a:p>
            <a:r>
              <a:rPr lang="en-US" dirty="0">
                <a:solidFill>
                  <a:prstClr val="black"/>
                </a:solidFill>
              </a:rPr>
              <a:t>A notification appears on the screen of the person who goes for his/her  approval and is sent to the Mail.</a:t>
            </a:r>
          </a:p>
        </p:txBody>
      </p:sp>
    </p:spTree>
    <p:extLst>
      <p:ext uri="{BB962C8B-B14F-4D97-AF65-F5344CB8AC3E}">
        <p14:creationId xmlns:p14="http://schemas.microsoft.com/office/powerpoint/2010/main" val="1815852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E65FE01F-FE83-4987-A0D6-65E9B61FD901}"/>
              </a:ext>
            </a:extLst>
          </p:cNvPr>
          <p:cNvPicPr/>
          <p:nvPr/>
        </p:nvPicPr>
        <p:blipFill>
          <a:blip r:embed="rId6"/>
          <a:stretch>
            <a:fillRect/>
          </a:stretch>
        </p:blipFill>
        <p:spPr>
          <a:xfrm>
            <a:off x="2956379" y="215694"/>
            <a:ext cx="6433872" cy="6377098"/>
          </a:xfrm>
          <a:prstGeom prst="rect">
            <a:avLst/>
          </a:prstGeom>
        </p:spPr>
      </p:pic>
      <p:sp>
        <p:nvSpPr>
          <p:cNvPr id="2" name="TextBox 1">
            <a:extLst>
              <a:ext uri="{FF2B5EF4-FFF2-40B4-BE49-F238E27FC236}">
                <a16:creationId xmlns:a16="http://schemas.microsoft.com/office/drawing/2014/main" id="{405CE2A8-16F5-4B93-BCA0-98BAFD7B3AA0}"/>
              </a:ext>
            </a:extLst>
          </p:cNvPr>
          <p:cNvSpPr txBox="1"/>
          <p:nvPr/>
        </p:nvSpPr>
        <p:spPr>
          <a:xfrm>
            <a:off x="381414" y="2378971"/>
            <a:ext cx="1986119" cy="1477328"/>
          </a:xfrm>
          <a:prstGeom prst="rect">
            <a:avLst/>
          </a:prstGeom>
          <a:noFill/>
        </p:spPr>
        <p:txBody>
          <a:bodyPr wrap="square" rtlCol="0">
            <a:spAutoFit/>
          </a:bodyPr>
          <a:lstStyle/>
          <a:p>
            <a:r>
              <a:rPr lang="en-US" dirty="0">
                <a:solidFill>
                  <a:prstClr val="black"/>
                </a:solidFill>
              </a:rPr>
              <a:t>Flow continues or ends depending on whether it accepts or not.</a:t>
            </a:r>
          </a:p>
          <a:p>
            <a:endParaRPr lang="tr-TR" dirty="0">
              <a:solidFill>
                <a:prstClr val="black"/>
              </a:solidFill>
            </a:endParaRPr>
          </a:p>
        </p:txBody>
      </p:sp>
    </p:spTree>
    <p:extLst>
      <p:ext uri="{BB962C8B-B14F-4D97-AF65-F5344CB8AC3E}">
        <p14:creationId xmlns:p14="http://schemas.microsoft.com/office/powerpoint/2010/main" val="102775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1172998" y="228286"/>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B8CBA69A-C123-4F07-9FC1-638A02A310DA}"/>
              </a:ext>
            </a:extLst>
          </p:cNvPr>
          <p:cNvPicPr>
            <a:picLocks noChangeAspect="1"/>
          </p:cNvPicPr>
          <p:nvPr/>
        </p:nvPicPr>
        <p:blipFill>
          <a:blip r:embed="rId6"/>
          <a:stretch>
            <a:fillRect/>
          </a:stretch>
        </p:blipFill>
        <p:spPr>
          <a:xfrm>
            <a:off x="133426" y="2113179"/>
            <a:ext cx="4169291" cy="2918859"/>
          </a:xfrm>
          <a:prstGeom prst="rect">
            <a:avLst/>
          </a:prstGeom>
        </p:spPr>
      </p:pic>
      <p:sp>
        <p:nvSpPr>
          <p:cNvPr id="3" name="TextBox 2">
            <a:extLst>
              <a:ext uri="{FF2B5EF4-FFF2-40B4-BE49-F238E27FC236}">
                <a16:creationId xmlns:a16="http://schemas.microsoft.com/office/drawing/2014/main" id="{9AD9B2B1-32ED-4A5C-899D-DC3DDFA14BF7}"/>
              </a:ext>
            </a:extLst>
          </p:cNvPr>
          <p:cNvSpPr txBox="1"/>
          <p:nvPr/>
        </p:nvSpPr>
        <p:spPr>
          <a:xfrm>
            <a:off x="183761" y="640113"/>
            <a:ext cx="7555634" cy="1477328"/>
          </a:xfrm>
          <a:prstGeom prst="rect">
            <a:avLst/>
          </a:prstGeom>
          <a:noFill/>
        </p:spPr>
        <p:txBody>
          <a:bodyPr wrap="square" rtlCol="0">
            <a:spAutoFit/>
          </a:bodyPr>
          <a:lstStyle/>
          <a:p>
            <a:endParaRPr lang="en-US" dirty="0"/>
          </a:p>
          <a:p>
            <a:r>
              <a:rPr lang="en-US" dirty="0">
                <a:solidFill>
                  <a:prstClr val="black"/>
                </a:solidFill>
              </a:rPr>
              <a:t>Another example is the Expense portal process, which will be used in all countries.</a:t>
            </a:r>
          </a:p>
          <a:p>
            <a:r>
              <a:rPr lang="en-US" dirty="0">
                <a:solidFill>
                  <a:prstClr val="black"/>
                </a:solidFill>
              </a:rPr>
              <a:t>We have completed the final tests in Kazakhstan. You will have automatic login from Portales LDAP.</a:t>
            </a:r>
            <a:endParaRPr lang="tr-TR" dirty="0">
              <a:solidFill>
                <a:prstClr val="black"/>
              </a:solidFill>
            </a:endParaRPr>
          </a:p>
        </p:txBody>
      </p:sp>
      <p:pic>
        <p:nvPicPr>
          <p:cNvPr id="7" name="Picture 6" descr="Graphical user interface, text, application, email&#10;&#10;Description automatically generated">
            <a:extLst>
              <a:ext uri="{FF2B5EF4-FFF2-40B4-BE49-F238E27FC236}">
                <a16:creationId xmlns:a16="http://schemas.microsoft.com/office/drawing/2014/main" id="{D1D7A819-0FDC-4A36-B189-7506343990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52552" y="2113179"/>
            <a:ext cx="7655687" cy="3905088"/>
          </a:xfrm>
          <a:prstGeom prst="rect">
            <a:avLst/>
          </a:prstGeom>
        </p:spPr>
      </p:pic>
    </p:spTree>
    <p:extLst>
      <p:ext uri="{BB962C8B-B14F-4D97-AF65-F5344CB8AC3E}">
        <p14:creationId xmlns:p14="http://schemas.microsoft.com/office/powerpoint/2010/main" val="416066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72028" y="345936"/>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1263407" y="214404"/>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descr="Graphical user interface, text, application&#10;&#10;Description automatically generated">
            <a:extLst>
              <a:ext uri="{FF2B5EF4-FFF2-40B4-BE49-F238E27FC236}">
                <a16:creationId xmlns:a16="http://schemas.microsoft.com/office/drawing/2014/main" id="{915179D4-7191-49CD-A59A-FA36AFCC81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0948" y="1777438"/>
            <a:ext cx="8680001" cy="4561331"/>
          </a:xfrm>
          <a:prstGeom prst="rect">
            <a:avLst/>
          </a:prstGeom>
        </p:spPr>
      </p:pic>
      <p:sp>
        <p:nvSpPr>
          <p:cNvPr id="4" name="TextBox 3">
            <a:extLst>
              <a:ext uri="{FF2B5EF4-FFF2-40B4-BE49-F238E27FC236}">
                <a16:creationId xmlns:a16="http://schemas.microsoft.com/office/drawing/2014/main" id="{60C9EC19-0F70-4FFB-B949-E1C6EBF951BE}"/>
              </a:ext>
            </a:extLst>
          </p:cNvPr>
          <p:cNvSpPr txBox="1"/>
          <p:nvPr/>
        </p:nvSpPr>
        <p:spPr>
          <a:xfrm>
            <a:off x="431753" y="722246"/>
            <a:ext cx="9018165" cy="923330"/>
          </a:xfrm>
          <a:prstGeom prst="rect">
            <a:avLst/>
          </a:prstGeom>
          <a:noFill/>
        </p:spPr>
        <p:txBody>
          <a:bodyPr wrap="square" rtlCol="0">
            <a:spAutoFit/>
          </a:bodyPr>
          <a:lstStyle/>
          <a:p>
            <a:r>
              <a:rPr lang="en-US" dirty="0">
                <a:solidFill>
                  <a:prstClr val="black"/>
                </a:solidFill>
              </a:rPr>
              <a:t>You can request an expense from this screen.</a:t>
            </a:r>
          </a:p>
          <a:p>
            <a:r>
              <a:rPr lang="en-US" dirty="0">
                <a:solidFill>
                  <a:prstClr val="black"/>
                </a:solidFill>
              </a:rPr>
              <a:t>When the required fields are filled in the form, the process goes to the approval step and the OpenText document is saved after all approvals are received.</a:t>
            </a:r>
            <a:endParaRPr lang="tr-TR" dirty="0">
              <a:solidFill>
                <a:prstClr val="black"/>
              </a:solidFill>
            </a:endParaRPr>
          </a:p>
        </p:txBody>
      </p:sp>
    </p:spTree>
    <p:extLst>
      <p:ext uri="{BB962C8B-B14F-4D97-AF65-F5344CB8AC3E}">
        <p14:creationId xmlns:p14="http://schemas.microsoft.com/office/powerpoint/2010/main" val="3298228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F896884-BB4A-43E4-A077-71D09B9D1E2D}"/>
              </a:ext>
            </a:extLst>
          </p:cNvPr>
          <p:cNvSpPr txBox="1"/>
          <p:nvPr/>
        </p:nvSpPr>
        <p:spPr>
          <a:xfrm>
            <a:off x="4577546" y="1997839"/>
            <a:ext cx="6312861" cy="2585323"/>
          </a:xfrm>
          <a:prstGeom prst="rect">
            <a:avLst/>
          </a:prstGeom>
          <a:noFill/>
        </p:spPr>
        <p:txBody>
          <a:bodyPr wrap="square" rtlCol="0">
            <a:spAutoFit/>
          </a:bodyPr>
          <a:lstStyle/>
          <a:p>
            <a:pPr lvl="0" algn="ctr"/>
            <a:r>
              <a:rPr lang="en-US" b="1" dirty="0">
                <a:solidFill>
                  <a:prstClr val="black"/>
                </a:solidFill>
              </a:rPr>
              <a:t>Why should we use BMP?   </a:t>
            </a:r>
          </a:p>
          <a:p>
            <a:pPr lvl="0" algn="ctr"/>
            <a:endParaRPr lang="en-US" b="1" dirty="0">
              <a:solidFill>
                <a:prstClr val="black"/>
              </a:solidFill>
            </a:endParaRPr>
          </a:p>
          <a:p>
            <a:pPr marL="285750" lvl="0" indent="-285750">
              <a:buFont typeface="Arial" panose="020B0604020202020204" pitchFamily="34" charset="0"/>
              <a:buChar char="•"/>
            </a:pPr>
            <a:r>
              <a:rPr lang="en-US" dirty="0">
                <a:solidFill>
                  <a:prstClr val="black"/>
                </a:solidFill>
              </a:rPr>
              <a:t>Bringing a process under control</a:t>
            </a:r>
          </a:p>
          <a:p>
            <a:pPr marL="285750" lvl="0" indent="-285750">
              <a:buFont typeface="Arial" panose="020B0604020202020204" pitchFamily="34" charset="0"/>
              <a:buChar char="•"/>
            </a:pPr>
            <a:r>
              <a:rPr lang="en-US" dirty="0">
                <a:solidFill>
                  <a:prstClr val="black"/>
                </a:solidFill>
              </a:rPr>
              <a:t>Facilitate a process improvement </a:t>
            </a:r>
          </a:p>
          <a:p>
            <a:pPr marL="285750" lvl="0" indent="-285750">
              <a:buFont typeface="Arial" panose="020B0604020202020204" pitchFamily="34" charset="0"/>
              <a:buChar char="•"/>
            </a:pPr>
            <a:r>
              <a:rPr lang="en-US" dirty="0">
                <a:solidFill>
                  <a:prstClr val="black"/>
                </a:solidFill>
              </a:rPr>
              <a:t>Monitors performance</a:t>
            </a:r>
          </a:p>
          <a:p>
            <a:pPr marL="285750" lvl="0" indent="-285750">
              <a:buFont typeface="Arial" panose="020B0604020202020204" pitchFamily="34" charset="0"/>
              <a:buChar char="•"/>
            </a:pPr>
            <a:r>
              <a:rPr lang="en-US" dirty="0">
                <a:solidFill>
                  <a:prstClr val="black"/>
                </a:solidFill>
              </a:rPr>
              <a:t>Facilitate communication between IT and the business partner</a:t>
            </a:r>
          </a:p>
          <a:p>
            <a:pPr marL="285750" lvl="0" indent="-285750">
              <a:buFont typeface="Arial" panose="020B0604020202020204" pitchFamily="34" charset="0"/>
              <a:buChar char="•"/>
            </a:pPr>
            <a:r>
              <a:rPr lang="en-US" dirty="0">
                <a:solidFill>
                  <a:prstClr val="black"/>
                </a:solidFill>
              </a:rPr>
              <a:t>To enable activity and competency tracking,</a:t>
            </a:r>
          </a:p>
          <a:p>
            <a:pPr marL="285750" lvl="0" indent="-285750">
              <a:buFont typeface="Arial" panose="020B0604020202020204" pitchFamily="34" charset="0"/>
              <a:buChar char="•"/>
            </a:pPr>
            <a:r>
              <a:rPr lang="en-US" dirty="0">
                <a:solidFill>
                  <a:prstClr val="black"/>
                </a:solidFill>
              </a:rPr>
              <a:t>To standardize a process</a:t>
            </a:r>
          </a:p>
          <a:p>
            <a:pPr marL="285750" lvl="0" indent="-285750">
              <a:buFont typeface="Arial" panose="020B0604020202020204" pitchFamily="34" charset="0"/>
              <a:buChar cha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descr="Diagram&#10;&#10;Description automatically generated">
            <a:extLst>
              <a:ext uri="{FF2B5EF4-FFF2-40B4-BE49-F238E27FC236}">
                <a16:creationId xmlns:a16="http://schemas.microsoft.com/office/drawing/2014/main" id="{E0B4E1A6-ADCF-489F-92B1-982EFD2438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089" y="1495054"/>
            <a:ext cx="3545613" cy="3545613"/>
          </a:xfrm>
          <a:prstGeom prst="rect">
            <a:avLst/>
          </a:prstGeom>
        </p:spPr>
      </p:pic>
    </p:spTree>
    <p:extLst>
      <p:ext uri="{BB962C8B-B14F-4D97-AF65-F5344CB8AC3E}">
        <p14:creationId xmlns:p14="http://schemas.microsoft.com/office/powerpoint/2010/main" val="3519542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F896884-BB4A-43E4-A077-71D09B9D1E2D}"/>
              </a:ext>
            </a:extLst>
          </p:cNvPr>
          <p:cNvSpPr txBox="1"/>
          <p:nvPr/>
        </p:nvSpPr>
        <p:spPr>
          <a:xfrm>
            <a:off x="1084136" y="3495982"/>
            <a:ext cx="8985388"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summary, our aim in BPM developments is to digitize manually proceeding processes.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the RPA system, these operations can also be done with a robot, but BPM and RPA have a very important difference.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RPA processes are rule-based and cannot be done with human intervention. However, in BPM processes, you can direct the process in your own way.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addition, BPM can offer you screens or forms with the view you want.</a:t>
            </a:r>
          </a:p>
        </p:txBody>
      </p:sp>
      <p:pic>
        <p:nvPicPr>
          <p:cNvPr id="11" name="Picture 10" descr="A picture containing logo&#10;&#10;Description automatically generated">
            <a:extLst>
              <a:ext uri="{FF2B5EF4-FFF2-40B4-BE49-F238E27FC236}">
                <a16:creationId xmlns:a16="http://schemas.microsoft.com/office/drawing/2014/main" id="{A7FC8ACC-AB97-4F8F-B37F-1E6A5EEB4615}"/>
              </a:ext>
            </a:extLst>
          </p:cNvPr>
          <p:cNvPicPr/>
          <p:nvPr/>
        </p:nvPicPr>
        <p:blipFill>
          <a:blip r:embed="rId6">
            <a:extLst>
              <a:ext uri="{28A0092B-C50C-407E-A947-70E740481C1C}">
                <a14:useLocalDpi xmlns:a14="http://schemas.microsoft.com/office/drawing/2010/main" val="0"/>
              </a:ext>
            </a:extLst>
          </a:blip>
          <a:stretch>
            <a:fillRect/>
          </a:stretch>
        </p:blipFill>
        <p:spPr>
          <a:xfrm>
            <a:off x="3982794" y="747529"/>
            <a:ext cx="3456940" cy="2555875"/>
          </a:xfrm>
          <a:prstGeom prst="rect">
            <a:avLst/>
          </a:prstGeom>
        </p:spPr>
      </p:pic>
    </p:spTree>
    <p:extLst>
      <p:ext uri="{BB962C8B-B14F-4D97-AF65-F5344CB8AC3E}">
        <p14:creationId xmlns:p14="http://schemas.microsoft.com/office/powerpoint/2010/main" val="3631633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4000" b="-24000"/>
          </a:stretch>
        </a:blipFill>
        <a:effectLst/>
      </p:bgPr>
    </p:bg>
    <p:spTree>
      <p:nvGrpSpPr>
        <p:cNvPr id="1" name=""/>
        <p:cNvGrpSpPr/>
        <p:nvPr/>
      </p:nvGrpSpPr>
      <p:grpSpPr>
        <a:xfrm>
          <a:off x="0" y="0"/>
          <a:ext cx="0" cy="0"/>
          <a:chOff x="0" y="0"/>
          <a:chExt cx="0" cy="0"/>
        </a:xfrm>
      </p:grpSpPr>
      <p:pic>
        <p:nvPicPr>
          <p:cNvPr id="8" name="Picture 7" descr="A picture containing logo&#10;&#10;Description automatically generated">
            <a:extLst>
              <a:ext uri="{FF2B5EF4-FFF2-40B4-BE49-F238E27FC236}">
                <a16:creationId xmlns:a16="http://schemas.microsoft.com/office/drawing/2014/main" id="{A4652A05-E700-4E17-B3B4-3F18D61A075A}"/>
              </a:ext>
            </a:extLst>
          </p:cNvPr>
          <p:cNvPicPr>
            <a:picLocks noChangeAspect="1"/>
          </p:cNvPicPr>
          <p:nvPr/>
        </p:nvPicPr>
        <p:blipFill rotWithShape="1">
          <a:blip r:embed="rId4">
            <a:extLst>
              <a:ext uri="{28A0092B-C50C-407E-A947-70E740481C1C}">
                <a14:useLocalDpi xmlns:a14="http://schemas.microsoft.com/office/drawing/2010/main" val="0"/>
              </a:ext>
            </a:extLst>
          </a:blip>
          <a:srcRect t="28108" r="1527" b="26662"/>
          <a:stretch/>
        </p:blipFill>
        <p:spPr>
          <a:xfrm>
            <a:off x="9855857" y="220081"/>
            <a:ext cx="2069100" cy="527448"/>
          </a:xfrm>
          <a:prstGeom prst="rect">
            <a:avLst/>
          </a:prstGeom>
        </p:spPr>
      </p:pic>
      <p:pic>
        <p:nvPicPr>
          <p:cNvPr id="5" name="Picture 4">
            <a:extLst>
              <a:ext uri="{FF2B5EF4-FFF2-40B4-BE49-F238E27FC236}">
                <a16:creationId xmlns:a16="http://schemas.microsoft.com/office/drawing/2014/main" id="{3BAEAB60-CE47-481D-BA49-7F9300673F2E}"/>
              </a:ext>
            </a:extLst>
          </p:cNvPr>
          <p:cNvPicPr>
            <a:picLocks noChangeAspect="1"/>
          </p:cNvPicPr>
          <p:nvPr/>
        </p:nvPicPr>
        <p:blipFill rotWithShape="1">
          <a:blip r:embed="rId5"/>
          <a:srcRect l="20492" t="47777"/>
          <a:stretch/>
        </p:blipFill>
        <p:spPr>
          <a:xfrm>
            <a:off x="560438" y="442702"/>
            <a:ext cx="1907458" cy="609654"/>
          </a:xfrm>
          <a:prstGeom prst="rect">
            <a:avLst/>
          </a:prstGeom>
        </p:spPr>
      </p:pic>
      <p:sp>
        <p:nvSpPr>
          <p:cNvPr id="6" name="Right Triangle 5">
            <a:extLst>
              <a:ext uri="{FF2B5EF4-FFF2-40B4-BE49-F238E27FC236}">
                <a16:creationId xmlns:a16="http://schemas.microsoft.com/office/drawing/2014/main" id="{23E482B2-2E94-4B65-9F9D-D38B2F7BFC28}"/>
              </a:ext>
            </a:extLst>
          </p:cNvPr>
          <p:cNvSpPr/>
          <p:nvPr/>
        </p:nvSpPr>
        <p:spPr>
          <a:xfrm rot="5400000">
            <a:off x="688232" y="-688227"/>
            <a:ext cx="609655" cy="1986118"/>
          </a:xfrm>
          <a:prstGeom prst="rtTriangle">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D77C81-B88A-4C8D-AEC2-2FDABC15F74E}"/>
              </a:ext>
            </a:extLst>
          </p:cNvPr>
          <p:cNvSpPr/>
          <p:nvPr/>
        </p:nvSpPr>
        <p:spPr>
          <a:xfrm>
            <a:off x="0" y="6735097"/>
            <a:ext cx="12192000" cy="12290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15DCA30F-2740-4E41-8478-6E398C5327CD}"/>
              </a:ext>
            </a:extLst>
          </p:cNvPr>
          <p:cNvSpPr/>
          <p:nvPr/>
        </p:nvSpPr>
        <p:spPr>
          <a:xfrm>
            <a:off x="0" y="6602493"/>
            <a:ext cx="12192000" cy="122903"/>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BPM for Small Business - Do SMBs Really Need BPM? | Cflow">
            <a:extLst>
              <a:ext uri="{FF2B5EF4-FFF2-40B4-BE49-F238E27FC236}">
                <a16:creationId xmlns:a16="http://schemas.microsoft.com/office/drawing/2014/main" id="{10813BC5-AA10-40EE-AE4A-AE1AF5BA64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090" y="5016375"/>
            <a:ext cx="2673102" cy="13989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73D09E0-194C-4A09-B495-67E659B6C452}"/>
              </a:ext>
            </a:extLst>
          </p:cNvPr>
          <p:cNvSpPr txBox="1"/>
          <p:nvPr/>
        </p:nvSpPr>
        <p:spPr>
          <a:xfrm>
            <a:off x="4071176" y="1745572"/>
            <a:ext cx="4389245" cy="1015663"/>
          </a:xfrm>
          <a:prstGeom prst="rect">
            <a:avLst/>
          </a:prstGeom>
          <a:noFill/>
        </p:spPr>
        <p:txBody>
          <a:bodyPr wrap="square" rtlCol="0">
            <a:spAutoFit/>
          </a:bodyPr>
          <a:lstStyle/>
          <a:p>
            <a:r>
              <a:rPr lang="en-US" sz="6000" dirty="0" err="1"/>
              <a:t>Teşekkürler</a:t>
            </a:r>
            <a:r>
              <a:rPr lang="en-US" sz="3200" dirty="0"/>
              <a:t>..</a:t>
            </a:r>
          </a:p>
        </p:txBody>
      </p:sp>
      <p:sp>
        <p:nvSpPr>
          <p:cNvPr id="14" name="TextBox 13">
            <a:extLst>
              <a:ext uri="{FF2B5EF4-FFF2-40B4-BE49-F238E27FC236}">
                <a16:creationId xmlns:a16="http://schemas.microsoft.com/office/drawing/2014/main" id="{0B72F920-9304-4B1E-BA4E-A15B412EC730}"/>
              </a:ext>
            </a:extLst>
          </p:cNvPr>
          <p:cNvSpPr txBox="1"/>
          <p:nvPr/>
        </p:nvSpPr>
        <p:spPr>
          <a:xfrm>
            <a:off x="5839624" y="5586830"/>
            <a:ext cx="7258399" cy="1015663"/>
          </a:xfrm>
          <a:prstGeom prst="rect">
            <a:avLst/>
          </a:prstGeom>
          <a:noFill/>
        </p:spPr>
        <p:txBody>
          <a:bodyPr wrap="square" rtlCol="0">
            <a:spAutoFit/>
          </a:bodyPr>
          <a:lstStyle/>
          <a:p>
            <a:pPr lvl="0" algn="ctr">
              <a:defRPr/>
            </a:pPr>
            <a:r>
              <a:rPr lang="en-US" sz="2000" dirty="0">
                <a:solidFill>
                  <a:prstClr val="black"/>
                </a:solidFill>
              </a:rPr>
              <a:t>Digital and Technology</a:t>
            </a:r>
          </a:p>
          <a:p>
            <a:pPr lvl="0" algn="ctr">
              <a:defRPr/>
            </a:pPr>
            <a:r>
              <a:rPr lang="en-US" sz="2000" dirty="0">
                <a:solidFill>
                  <a:prstClr val="black"/>
                </a:solidFill>
              </a:rPr>
              <a:t>Artificial Intelligence And Robotics Solutions</a:t>
            </a:r>
          </a:p>
          <a:p>
            <a:pPr lvl="0" algn="ctr">
              <a:defRPr/>
            </a:pPr>
            <a:endParaRPr lang="en-US" sz="2000" dirty="0">
              <a:solidFill>
                <a:prstClr val="black"/>
              </a:solidFill>
            </a:endParaRPr>
          </a:p>
        </p:txBody>
      </p:sp>
    </p:spTree>
    <p:extLst>
      <p:ext uri="{BB962C8B-B14F-4D97-AF65-F5344CB8AC3E}">
        <p14:creationId xmlns:p14="http://schemas.microsoft.com/office/powerpoint/2010/main" val="3523872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B645930E9FE004C9773E1DCA8EF4D19" ma:contentTypeVersion="14" ma:contentTypeDescription="Create a new document." ma:contentTypeScope="" ma:versionID="091d17a13c43f4ebc1e32ed05d9dd898">
  <xsd:schema xmlns:xsd="http://www.w3.org/2001/XMLSchema" xmlns:xs="http://www.w3.org/2001/XMLSchema" xmlns:p="http://schemas.microsoft.com/office/2006/metadata/properties" xmlns:ns3="d97fbc75-46c9-4a9f-a368-f363b857204e" xmlns:ns4="075bc193-668f-4aec-873b-ba85f8fda754" targetNamespace="http://schemas.microsoft.com/office/2006/metadata/properties" ma:root="true" ma:fieldsID="1c4f30da448444bfacab244a2a98aa2b" ns3:_="" ns4:_="">
    <xsd:import namespace="d97fbc75-46c9-4a9f-a368-f363b857204e"/>
    <xsd:import namespace="075bc193-668f-4aec-873b-ba85f8fda75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DateTaken" minOccurs="0"/>
                <xsd:element ref="ns4:MediaLengthInSecond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7fbc75-46c9-4a9f-a368-f363b857204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5bc193-668f-4aec-873b-ba85f8fda75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A0E78F-2929-4417-A4E2-5A38C06819E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D9C94E3-7D17-4C90-9914-A2AAFD590350}">
  <ds:schemaRefs>
    <ds:schemaRef ds:uri="http://schemas.microsoft.com/sharepoint/v3/contenttype/forms"/>
  </ds:schemaRefs>
</ds:datastoreItem>
</file>

<file path=customXml/itemProps3.xml><?xml version="1.0" encoding="utf-8"?>
<ds:datastoreItem xmlns:ds="http://schemas.openxmlformats.org/officeDocument/2006/customXml" ds:itemID="{BC5D6DC6-C753-4850-BABA-CC97E2D648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7fbc75-46c9-4a9f-a368-f363b857204e"/>
    <ds:schemaRef ds:uri="075bc193-668f-4aec-873b-ba85f8fda7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39691</TotalTime>
  <Words>849</Words>
  <Application>Microsoft Office PowerPoint</Application>
  <PresentationFormat>Widescreen</PresentationFormat>
  <Paragraphs>93</Paragraphs>
  <Slides>16</Slides>
  <Notes>15</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16</vt:i4>
      </vt:variant>
    </vt:vector>
  </HeadingPairs>
  <TitlesOfParts>
    <vt:vector size="26" baseType="lpstr">
      <vt:lpstr>Arial</vt:lpstr>
      <vt:lpstr>Calibri</vt:lpstr>
      <vt:lpstr>Calibri</vt:lpstr>
      <vt:lpstr>Calibri Light</vt:lpstr>
      <vt:lpstr>Microsoft Sans Serif</vt:lpstr>
      <vt:lpstr>Office Theme</vt:lpstr>
      <vt:lpstr>Custom Design</vt:lpstr>
      <vt:lpstr>1_Custom Design</vt:lpstr>
      <vt:lpstr>2_Custom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Mert USUK</dc:creator>
  <cp:keywords>Hizmete Özel , Kişisel Veri İçermez</cp:keywords>
  <cp:lastModifiedBy>Busra AYAR</cp:lastModifiedBy>
  <cp:revision>154</cp:revision>
  <dcterms:created xsi:type="dcterms:W3CDTF">2021-05-14T18:51:11Z</dcterms:created>
  <dcterms:modified xsi:type="dcterms:W3CDTF">2022-08-10T05:48:41Z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cd9897ad-3fdd-4156-943a-77fef877ebc0</vt:lpwstr>
  </property>
  <property fmtid="{D5CDD505-2E9C-101B-9397-08002B2CF9AE}" pid="3" name="Classification">
    <vt:lpwstr>H-474f5eba</vt:lpwstr>
  </property>
  <property fmtid="{D5CDD505-2E9C-101B-9397-08002B2CF9AE}" pid="4" name="SubRestricted">
    <vt:lpwstr>SR-t5s8a41m</vt:lpwstr>
  </property>
  <property fmtid="{D5CDD505-2E9C-101B-9397-08002B2CF9AE}" pid="5" name="KVKK">
    <vt:lpwstr>N-c5b93c79</vt:lpwstr>
  </property>
  <property fmtid="{D5CDD505-2E9C-101B-9397-08002B2CF9AE}" pid="6" name="OriginatingUser">
    <vt:lpwstr>cugur</vt:lpwstr>
  </property>
  <property fmtid="{D5CDD505-2E9C-101B-9397-08002B2CF9AE}" pid="7" name="ContentTypeId">
    <vt:lpwstr>0x0101008B645930E9FE004C9773E1DCA8EF4D19</vt:lpwstr>
  </property>
</Properties>
</file>